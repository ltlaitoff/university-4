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74" r:id="rId17"/>
    <p:sldId id="275" r:id="rId18"/>
    <p:sldId id="276" r:id="rId19"/>
    <p:sldId id="270" r:id="rId20"/>
    <p:sldId id="258" r:id="rId21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6101"/>
    <a:srgbClr val="30426A"/>
    <a:srgbClr val="91BED5"/>
    <a:srgbClr val="D8E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8F767-DAE2-4D93-B521-7D6116E36C85}" type="datetimeFigureOut">
              <a:rPr lang="uk-UA" smtClean="0"/>
              <a:t>24.12.2025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181A6-7D62-4258-8FAD-4EA5B67909C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37805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1690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9820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7563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43847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17701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51488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86269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55990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68035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2596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58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30692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9262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181A6-7D62-4258-8FAD-4EA5B67909C6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95308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69DEE-D54D-4252-927E-C6D67EB40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1772E2-DD51-440D-A7CA-C93EA7FF3B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5656C-A6B6-4512-88C0-3639DB8DD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D030-583D-4BB3-B65E-2AB6287D0F55}" type="datetime1">
              <a:rPr lang="uk-UA" smtClean="0"/>
              <a:t>24.12.2025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4D806-8BB4-4D10-A24D-6E1EFB718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5BC82-1516-4CF6-AEE7-AC5148EE0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1576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841B-C2B6-40BF-B4DA-8C67F8E3A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67E10-8857-4D4B-A0D7-595EBE72C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F9F2E-F9AC-4659-A66D-33579940B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B15F-8AC8-45F2-9708-FE7A1811D934}" type="datetime1">
              <a:rPr lang="uk-UA" smtClean="0"/>
              <a:t>24.12.2025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912BA-B2C3-4E3F-8EA6-48A2DBA73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26191-9CB0-455F-BEE0-608CB754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00614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31FD0-2A67-4EFD-9B44-B40C17CCF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301D3-DD7A-4143-ABF6-2B2DE32B2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F3C0C-3506-4032-9B5C-302B46DCC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F91B-616A-41F0-8036-00A7FFF50DD6}" type="datetime1">
              <a:rPr lang="uk-UA" smtClean="0"/>
              <a:t>24.12.2025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C6073-B2C8-4FDD-826C-71ED141C5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6E2A4-1793-4FE4-AF7F-06ED11EC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56843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AA1E-DD1C-4BFD-B263-7EEEB4A3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0A1DB-336A-4340-85D8-EFED2180CD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11035-49BD-4647-8A98-5596C4A59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9F89B-819A-4B01-BD86-69F154863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EC31-6610-4AA7-8195-0E72D2F87DD5}" type="datetime1">
              <a:rPr lang="uk-UA" smtClean="0"/>
              <a:t>24.12.2025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DFD81-0914-497E-9F29-818A95E5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2D9A2-10F8-4A11-B1EF-FB6AF53E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5223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4F50A-F816-49DE-9837-1B973960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0DF9D-E35E-48BA-B774-621ED12E8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7FE35-36EF-4B6E-863B-F95AC5486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EB770-8B14-49C8-8385-355DE7A62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81523-762C-484F-BA9C-CE089A944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A850BC-6076-4BB8-81B6-7B3E7B718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89F3-8589-4A86-90A8-BD0A11795F45}" type="datetime1">
              <a:rPr lang="uk-UA" smtClean="0"/>
              <a:t>24.12.2025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817FD4-720F-4809-84A1-38F0D074A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472F8-F20E-46D8-B260-8E30C30F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3702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B9DFE-1158-4F2F-8F60-8B9DC4637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3B114-DE1A-430B-89C4-B593D1AD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A0F6-FC2F-444D-98FA-60F1761A17B2}" type="datetime1">
              <a:rPr lang="uk-UA" smtClean="0"/>
              <a:t>24.12.2025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44AE5-82B4-406D-814D-7D0B5E77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A9BAB-2C09-4F0E-96C8-8192AA0FC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677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004664-8148-4C0D-B562-C352B62A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F5C27-77C4-4344-9001-2F4C1D873FCE}" type="datetime1">
              <a:rPr lang="uk-UA" smtClean="0"/>
              <a:t>24.12.2025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CDD271-A04C-4BCE-A3F4-46730F12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3D255-428C-4C12-AAE6-DD0A3A35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9293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F3451-8873-4155-8414-004CAB38C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0CF3D-E791-4034-96C4-2356C693F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8303A-5396-44D4-936F-4CD892C3A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A8A0F-EA9A-49E0-987F-D8941814B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5E62-1F0A-4640-BAC7-4C28017987AA}" type="datetime1">
              <a:rPr lang="uk-UA" smtClean="0"/>
              <a:t>24.12.2025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48306-F81C-4543-A4C4-AAF42AA83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C0D53-E137-4501-B751-8B3341BA4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32444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CFECB-E72F-4B16-B871-1DC1DB67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7D8D9-542C-4D0F-9BD6-957ACDA7B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FF9C1-6F55-47F2-8341-171C0D554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858C5-32D6-450B-B5B3-A7CD08250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5EFD-EFD6-4AF5-B966-9A6C1B3B21A3}" type="datetime1">
              <a:rPr lang="uk-UA" smtClean="0"/>
              <a:t>24.12.2025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4DCA9-B7CF-4C5F-A0B3-B9B63241F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23E81-2948-4319-98B5-5D2FA59DF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68574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8BD7D-49B8-4801-84A1-B9B66B06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0E6C2-71D7-4A38-A051-8DCEDD0BC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13C25-61C3-44D4-8983-66D38021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02F2-99AF-4E5B-BBB7-B0759D86C7F5}" type="datetime1">
              <a:rPr lang="uk-UA" smtClean="0"/>
              <a:t>24.12.2025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6B73A-7158-4837-9621-FEF3B1615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4035C-7812-40E8-A267-DF55E3C7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99823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F7C145-2E52-4874-8E83-AA008D8FF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56BDE-122E-4230-AB2D-7C0C7C7F3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2FF7E-34B5-4D18-8FBB-1EA3C251D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19ECB-38B6-4D6B-9C53-675D9ADAB9CB}" type="datetime1">
              <a:rPr lang="uk-UA" smtClean="0"/>
              <a:t>24.12.2025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3C1E3-5DC0-4392-A96D-BC86533A0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13D12-CBCD-41D8-BE49-3EC877AA1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21477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D799D6-0B57-4702-9581-655F3D536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2133D-1224-4C09-B014-2D0F5DE39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8F9F2-4D7A-406E-A6EF-10E6303A3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7BCC85-2F98-48A5-9784-7753E0353614}" type="datetime1">
              <a:rPr lang="uk-UA" smtClean="0"/>
              <a:t>24.12.2025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D8BD8-10AD-4120-9C91-81B916930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B80A9-BC23-4240-AFDC-D51AAD848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8EB01-58CF-4619-B0B5-4F77EED13A5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0537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en.wikipedia.org/wiki/Brainwave_entrainmen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54C8-D954-4C83-8505-96D9BF32C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762" y="1405008"/>
            <a:ext cx="10328476" cy="1655762"/>
          </a:xfrm>
        </p:spPr>
        <p:txBody>
          <a:bodyPr>
            <a:normAutofit fontScale="90000"/>
          </a:bodyPr>
          <a:lstStyle/>
          <a:p>
            <a:br>
              <a:rPr lang="ru-RU" dirty="0">
                <a:solidFill>
                  <a:srgbClr val="30426A"/>
                </a:solidFill>
              </a:rPr>
            </a:br>
            <a:r>
              <a:rPr lang="ru-RU" dirty="0" err="1">
                <a:solidFill>
                  <a:srgbClr val="30426A"/>
                </a:solidFill>
                <a:effectLst/>
              </a:rPr>
              <a:t>Дослідження</a:t>
            </a:r>
            <a:r>
              <a:rPr lang="ru-RU" dirty="0">
                <a:solidFill>
                  <a:srgbClr val="30426A"/>
                </a:solidFill>
                <a:effectLst/>
              </a:rPr>
              <a:t> </a:t>
            </a:r>
            <a:r>
              <a:rPr lang="ru-RU" dirty="0" err="1">
                <a:solidFill>
                  <a:srgbClr val="30426A"/>
                </a:solidFill>
                <a:effectLst/>
              </a:rPr>
              <a:t>впливу</a:t>
            </a:r>
            <a:r>
              <a:rPr lang="ru-RU" dirty="0">
                <a:solidFill>
                  <a:srgbClr val="30426A"/>
                </a:solidFill>
                <a:effectLst/>
              </a:rPr>
              <a:t> </a:t>
            </a:r>
            <a:r>
              <a:rPr lang="ru-RU" dirty="0" err="1">
                <a:solidFill>
                  <a:srgbClr val="30426A"/>
                </a:solidFill>
                <a:effectLst/>
              </a:rPr>
              <a:t>бінауральних</a:t>
            </a:r>
            <a:r>
              <a:rPr lang="ru-RU" dirty="0">
                <a:solidFill>
                  <a:srgbClr val="30426A"/>
                </a:solidFill>
                <a:effectLst/>
              </a:rPr>
              <a:t> </a:t>
            </a:r>
            <a:r>
              <a:rPr lang="ru-RU" dirty="0" err="1">
                <a:solidFill>
                  <a:srgbClr val="30426A"/>
                </a:solidFill>
                <a:effectLst/>
              </a:rPr>
              <a:t>ритмів</a:t>
            </a:r>
            <a:r>
              <a:rPr lang="ru-RU" dirty="0">
                <a:solidFill>
                  <a:srgbClr val="30426A"/>
                </a:solidFill>
                <a:effectLst/>
              </a:rPr>
              <a:t> на роботу </a:t>
            </a:r>
            <a:r>
              <a:rPr lang="ru-RU" dirty="0" err="1">
                <a:solidFill>
                  <a:srgbClr val="30426A"/>
                </a:solidFill>
                <a:effectLst/>
              </a:rPr>
              <a:t>мозку</a:t>
            </a:r>
            <a:r>
              <a:rPr lang="ru-RU" dirty="0">
                <a:solidFill>
                  <a:srgbClr val="30426A"/>
                </a:solidFill>
                <a:effectLst/>
              </a:rPr>
              <a:t> та </a:t>
            </a:r>
            <a:r>
              <a:rPr lang="ru-RU" dirty="0" err="1">
                <a:solidFill>
                  <a:srgbClr val="30426A"/>
                </a:solidFill>
                <a:effectLst/>
              </a:rPr>
              <a:t>увагу</a:t>
            </a:r>
            <a:endParaRPr lang="ru-RU" dirty="0">
              <a:solidFill>
                <a:srgbClr val="30426A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E1A9D8-9FA6-4E1A-9D7F-60C9F6745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977" y="3434205"/>
            <a:ext cx="9144000" cy="443314"/>
          </a:xfrm>
        </p:spPr>
        <p:txBody>
          <a:bodyPr>
            <a:normAutofit/>
          </a:bodyPr>
          <a:lstStyle/>
          <a:p>
            <a:r>
              <a:rPr lang="uk-UA" dirty="0">
                <a:solidFill>
                  <a:srgbClr val="30426A"/>
                </a:solidFill>
              </a:rPr>
              <a:t>Презентація від </a:t>
            </a:r>
            <a:r>
              <a:rPr lang="uk-UA" dirty="0" err="1">
                <a:solidFill>
                  <a:srgbClr val="30426A"/>
                </a:solidFill>
              </a:rPr>
              <a:t>Щедровського</a:t>
            </a:r>
            <a:r>
              <a:rPr lang="uk-UA" dirty="0">
                <a:solidFill>
                  <a:srgbClr val="30426A"/>
                </a:solidFill>
              </a:rPr>
              <a:t> Івана КНТ-113сп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4CB90-8732-4531-A00E-0EA2486E4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4756" y="0"/>
            <a:ext cx="457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09BA3C-AEA5-4DFB-9AD9-F5538813315D}"/>
              </a:ext>
            </a:extLst>
          </p:cNvPr>
          <p:cNvSpPr txBox="1"/>
          <p:nvPr/>
        </p:nvSpPr>
        <p:spPr>
          <a:xfrm>
            <a:off x="1790218" y="3899783"/>
            <a:ext cx="84495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F16101"/>
                </a:solidFill>
              </a:rPr>
              <a:t>на основі наукової роботи</a:t>
            </a:r>
          </a:p>
          <a:p>
            <a:pPr algn="ctr"/>
            <a:r>
              <a:rPr lang="en-US" dirty="0" err="1">
                <a:solidFill>
                  <a:srgbClr val="F16101"/>
                </a:solidFill>
              </a:rPr>
              <a:t>Melnichuk</a:t>
            </a:r>
            <a:r>
              <a:rPr lang="en-US" dirty="0">
                <a:solidFill>
                  <a:srgbClr val="F16101"/>
                </a:solidFill>
              </a:rPr>
              <a:t>, A., Cooper, R.K. &amp; Hawk, L.W. A parametric investigation of binaural beats for brain entrainment and enhancing sustained attention. </a:t>
            </a:r>
            <a:r>
              <a:rPr lang="en-US" i="1" dirty="0">
                <a:solidFill>
                  <a:srgbClr val="F16101"/>
                </a:solidFill>
              </a:rPr>
              <a:t>Sci Rep</a:t>
            </a:r>
            <a:r>
              <a:rPr lang="en-US" dirty="0">
                <a:solidFill>
                  <a:srgbClr val="F16101"/>
                </a:solidFill>
              </a:rPr>
              <a:t> </a:t>
            </a:r>
            <a:r>
              <a:rPr lang="en-US" b="1" dirty="0">
                <a:solidFill>
                  <a:srgbClr val="F16101"/>
                </a:solidFill>
              </a:rPr>
              <a:t>15</a:t>
            </a:r>
            <a:r>
              <a:rPr lang="en-US" dirty="0">
                <a:solidFill>
                  <a:srgbClr val="F16101"/>
                </a:solidFill>
              </a:rPr>
              <a:t>, 4308 (2025). https://doi.org/10.1038/s41598-025-88517-z</a:t>
            </a:r>
            <a:endParaRPr lang="uk-UA" dirty="0">
              <a:solidFill>
                <a:srgbClr val="F1610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07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3852-D373-4D72-9D95-0F4053C3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solidFill>
                  <a:srgbClr val="30426A"/>
                </a:solidFill>
              </a:rPr>
              <a:t>Зміст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B85A7-B4F4-484E-AFD0-14278B378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984"/>
            <a:ext cx="10515600" cy="4351338"/>
          </a:xfrm>
        </p:spPr>
        <p:txBody>
          <a:bodyPr>
            <a:normAutofit/>
          </a:bodyPr>
          <a:lstStyle/>
          <a:p>
            <a:r>
              <a:rPr lang="uk-UA" sz="2400" dirty="0">
                <a:solidFill>
                  <a:srgbClr val="30426A"/>
                </a:solidFill>
              </a:rPr>
              <a:t>Пояснення термінів </a:t>
            </a:r>
            <a:r>
              <a:rPr lang="en-US" sz="2400" dirty="0">
                <a:solidFill>
                  <a:srgbClr val="30426A"/>
                </a:solidFill>
              </a:rPr>
              <a:t>Binaural beats(BBs, </a:t>
            </a:r>
            <a:r>
              <a:rPr lang="uk-UA" sz="2400" dirty="0">
                <a:solidFill>
                  <a:srgbClr val="30426A"/>
                </a:solidFill>
              </a:rPr>
              <a:t>БР</a:t>
            </a:r>
            <a:r>
              <a:rPr lang="en-US" sz="2400" dirty="0">
                <a:solidFill>
                  <a:srgbClr val="30426A"/>
                </a:solidFill>
              </a:rPr>
              <a:t>), brain entrainment, </a:t>
            </a:r>
            <a:r>
              <a:rPr lang="uk-UA" sz="2400" dirty="0">
                <a:solidFill>
                  <a:srgbClr val="30426A"/>
                </a:solidFill>
              </a:rPr>
              <a:t>частота </a:t>
            </a:r>
            <a:r>
              <a:rPr lang="en-US" sz="2400" dirty="0">
                <a:solidFill>
                  <a:srgbClr val="30426A"/>
                </a:solidFill>
              </a:rPr>
              <a:t>BBs</a:t>
            </a:r>
            <a:r>
              <a:rPr lang="uk-UA" sz="2400" dirty="0">
                <a:solidFill>
                  <a:srgbClr val="30426A"/>
                </a:solidFill>
              </a:rPr>
              <a:t>, частота носія, маскування та час початку</a:t>
            </a:r>
          </a:p>
          <a:p>
            <a:r>
              <a:rPr lang="uk-UA" sz="2400" dirty="0">
                <a:solidFill>
                  <a:srgbClr val="30426A"/>
                </a:solidFill>
              </a:rPr>
              <a:t>Демонстрація таблиці порівняння інших досліджень з дослідження</a:t>
            </a:r>
          </a:p>
          <a:p>
            <a:r>
              <a:rPr lang="uk-UA" sz="2400" dirty="0">
                <a:solidFill>
                  <a:srgbClr val="30426A"/>
                </a:solidFill>
              </a:rPr>
              <a:t>Мета дослідження</a:t>
            </a:r>
          </a:p>
          <a:p>
            <a:r>
              <a:rPr lang="uk-UA" sz="2400" dirty="0">
                <a:solidFill>
                  <a:srgbClr val="30426A"/>
                </a:solidFill>
              </a:rPr>
              <a:t>Передумови проведення дослідження</a:t>
            </a:r>
          </a:p>
          <a:p>
            <a:r>
              <a:rPr lang="uk-UA" sz="2400" dirty="0">
                <a:solidFill>
                  <a:srgbClr val="30426A"/>
                </a:solidFill>
              </a:rPr>
              <a:t>Проведення дослідження</a:t>
            </a:r>
          </a:p>
          <a:p>
            <a:r>
              <a:rPr lang="uk-UA" sz="2400" dirty="0">
                <a:solidFill>
                  <a:srgbClr val="30426A"/>
                </a:solidFill>
              </a:rPr>
              <a:t>Результати дослідження</a:t>
            </a:r>
          </a:p>
          <a:p>
            <a:r>
              <a:rPr lang="uk-UA" sz="2400" dirty="0">
                <a:solidFill>
                  <a:srgbClr val="30426A"/>
                </a:solidFill>
              </a:rPr>
              <a:t>Недоліки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331D0-AA81-4E21-B73D-7A172D9B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9374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3852-D373-4D72-9D95-0F4053C3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91BED5"/>
                </a:solidFill>
              </a:rPr>
              <a:t>Що таке </a:t>
            </a:r>
            <a:r>
              <a:rPr lang="en-US" b="1" dirty="0">
                <a:solidFill>
                  <a:srgbClr val="91BED5"/>
                </a:solidFill>
              </a:rPr>
              <a:t>Binaural beats?</a:t>
            </a:r>
            <a:endParaRPr lang="uk-UA" b="1" dirty="0">
              <a:solidFill>
                <a:srgbClr val="91BED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96647-404B-48D3-955C-27EA2009F23A}"/>
              </a:ext>
            </a:extLst>
          </p:cNvPr>
          <p:cNvSpPr txBox="1"/>
          <p:nvPr/>
        </p:nvSpPr>
        <p:spPr>
          <a:xfrm>
            <a:off x="449924" y="5766512"/>
            <a:ext cx="74995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Інформація з</a:t>
            </a:r>
            <a:r>
              <a:rPr lang="en-US" dirty="0"/>
              <a:t>: </a:t>
            </a:r>
            <a:r>
              <a:rPr lang="uk-UA" dirty="0"/>
              <a:t>Статті та </a:t>
            </a:r>
            <a:r>
              <a:rPr lang="en-US" dirty="0"/>
              <a:t>https://www.healthline.com/health/binaural-beats</a:t>
            </a:r>
          </a:p>
          <a:p>
            <a:r>
              <a:rPr lang="uk-UA" dirty="0"/>
              <a:t>Картинка з </a:t>
            </a:r>
            <a:r>
              <a:rPr lang="en-US" dirty="0"/>
              <a:t>https://www.researchgate.net/figure/Concept-of-Binaural-beats-Image-courtesy-of-Patrick-Alban-DC-and-Deane-Alban_fig1_367435317</a:t>
            </a:r>
            <a:endParaRPr lang="uk-UA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26C3CDF-818A-41E6-B3B0-CA3944B21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931" y="1513711"/>
            <a:ext cx="4816555" cy="383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DA6AF0-3B62-4404-9CDA-0B56A1E67138}"/>
              </a:ext>
            </a:extLst>
          </p:cNvPr>
          <p:cNvSpPr txBox="1">
            <a:spLocks/>
          </p:cNvSpPr>
          <p:nvPr/>
        </p:nvSpPr>
        <p:spPr>
          <a:xfrm>
            <a:off x="838200" y="2349401"/>
            <a:ext cx="3957320" cy="2159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uk-UA" altLang="uk-UA" sz="1800" b="1" dirty="0">
                <a:solidFill>
                  <a:srgbClr val="F16101"/>
                </a:solidFill>
                <a:latin typeface="Google Sans Text"/>
              </a:rPr>
              <a:t>Binaural beats </a:t>
            </a:r>
            <a:r>
              <a:rPr lang="uk-UA" altLang="uk-UA" sz="1800" dirty="0">
                <a:solidFill>
                  <a:srgbClr val="30426A"/>
                </a:solidFill>
                <a:latin typeface="Google Sans Text"/>
              </a:rPr>
              <a:t>— це слухова ілюзія, що виникає при прослуховуванні двох тонів різної частоти окремо в кожному вусі; мозок сприймає їх як єдиний пульсуючий ритм із частотою, що дорівнює їхній різниці</a:t>
            </a:r>
            <a:endParaRPr lang="uk-UA" altLang="uk-UA" sz="1800" dirty="0">
              <a:solidFill>
                <a:srgbClr val="30426A"/>
              </a:solidFill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5762ED-FC17-4AC7-920A-0EBF0741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24274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3852-D373-4D72-9D95-0F4053C3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791" y="265109"/>
            <a:ext cx="10515600" cy="1325563"/>
          </a:xfrm>
        </p:spPr>
        <p:txBody>
          <a:bodyPr/>
          <a:lstStyle/>
          <a:p>
            <a:r>
              <a:rPr lang="uk-UA" b="1" dirty="0">
                <a:solidFill>
                  <a:srgbClr val="91BED5"/>
                </a:solidFill>
              </a:rPr>
              <a:t>Що таке </a:t>
            </a:r>
            <a:r>
              <a:rPr lang="en-US" b="1" dirty="0">
                <a:solidFill>
                  <a:srgbClr val="91BED5"/>
                </a:solidFill>
              </a:rPr>
              <a:t>Brain entrainment?</a:t>
            </a:r>
            <a:endParaRPr lang="uk-UA" b="1" dirty="0">
              <a:solidFill>
                <a:srgbClr val="91BED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96647-404B-48D3-955C-27EA2009F23A}"/>
              </a:ext>
            </a:extLst>
          </p:cNvPr>
          <p:cNvSpPr txBox="1"/>
          <p:nvPr/>
        </p:nvSpPr>
        <p:spPr>
          <a:xfrm>
            <a:off x="477356" y="5510480"/>
            <a:ext cx="74995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Інформація з</a:t>
            </a:r>
            <a:r>
              <a:rPr lang="en-US" dirty="0"/>
              <a:t>:</a:t>
            </a:r>
            <a:r>
              <a:rPr lang="uk-UA" dirty="0"/>
              <a:t> Стаття, </a:t>
            </a:r>
            <a:r>
              <a:rPr lang="en-US" dirty="0">
                <a:hlinkClick r:id="rId2"/>
              </a:rPr>
              <a:t>https://en.wikipedia.org/wiki/Brainwave_entrainment</a:t>
            </a:r>
            <a:endParaRPr lang="uk-UA" dirty="0"/>
          </a:p>
          <a:p>
            <a:r>
              <a:rPr lang="uk-UA" dirty="0"/>
              <a:t>Картинка з</a:t>
            </a:r>
            <a:r>
              <a:rPr lang="en-US" dirty="0"/>
              <a:t>: https://medium.com/age-of-awareness/the-science-of-brainwave-entrainment-a303468dc2af</a:t>
            </a:r>
            <a:endParaRPr lang="uk-UA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DA6AF0-3B62-4404-9CDA-0B56A1E67138}"/>
              </a:ext>
            </a:extLst>
          </p:cNvPr>
          <p:cNvSpPr txBox="1">
            <a:spLocks/>
          </p:cNvSpPr>
          <p:nvPr/>
        </p:nvSpPr>
        <p:spPr>
          <a:xfrm>
            <a:off x="563791" y="2349401"/>
            <a:ext cx="3957320" cy="21591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uk-UA" sz="1800" b="1" dirty="0">
                <a:solidFill>
                  <a:srgbClr val="F16101"/>
                </a:solidFill>
                <a:latin typeface="Google Sans Text"/>
              </a:rPr>
              <a:t>Brain entrainment</a:t>
            </a:r>
            <a:r>
              <a:rPr lang="uk-UA" altLang="uk-UA" sz="1800" b="1" dirty="0">
                <a:solidFill>
                  <a:srgbClr val="F16101"/>
                </a:solidFill>
                <a:latin typeface="Google Sans Text"/>
              </a:rPr>
              <a:t>, </a:t>
            </a:r>
            <a:r>
              <a:rPr lang="uk-UA" altLang="uk-UA" sz="1800" b="1" dirty="0" err="1">
                <a:solidFill>
                  <a:srgbClr val="F16101"/>
                </a:solidFill>
                <a:latin typeface="Google Sans Text"/>
              </a:rPr>
              <a:t>нав</a:t>
            </a:r>
            <a:r>
              <a:rPr lang="en-US" altLang="uk-UA" sz="1800" b="1" dirty="0">
                <a:solidFill>
                  <a:srgbClr val="F16101"/>
                </a:solidFill>
                <a:latin typeface="Google Sans Text"/>
              </a:rPr>
              <a:t>’</a:t>
            </a:r>
            <a:r>
              <a:rPr lang="uk-UA" altLang="uk-UA" sz="1800" b="1" dirty="0" err="1">
                <a:solidFill>
                  <a:srgbClr val="F16101"/>
                </a:solidFill>
                <a:latin typeface="Google Sans Text"/>
              </a:rPr>
              <a:t>язування</a:t>
            </a:r>
            <a:r>
              <a:rPr lang="uk-UA" altLang="uk-UA" sz="1800" b="1" dirty="0">
                <a:solidFill>
                  <a:srgbClr val="F16101"/>
                </a:solidFill>
                <a:latin typeface="Google Sans Text"/>
              </a:rPr>
              <a:t> ритму, синхронізація мозкових хвиль</a:t>
            </a:r>
            <a:r>
              <a:rPr lang="en-US" altLang="uk-UA" sz="1800" b="1" dirty="0">
                <a:solidFill>
                  <a:srgbClr val="F16101"/>
                </a:solidFill>
                <a:latin typeface="Google Sans Text"/>
              </a:rPr>
              <a:t> </a:t>
            </a:r>
            <a:r>
              <a:rPr lang="uk-UA" altLang="uk-UA" sz="1800" dirty="0">
                <a:solidFill>
                  <a:srgbClr val="30426A"/>
                </a:solidFill>
                <a:latin typeface="Google Sans Text"/>
              </a:rPr>
              <a:t>відноситься до спостереження, що мозкові хвилі(</a:t>
            </a:r>
            <a:r>
              <a:rPr lang="ru-RU" altLang="uk-UA" sz="1800" dirty="0" err="1">
                <a:solidFill>
                  <a:srgbClr val="30426A"/>
                </a:solidFill>
                <a:latin typeface="Google Sans Text"/>
              </a:rPr>
              <a:t>великомасштабні</a:t>
            </a:r>
            <a:r>
              <a:rPr lang="ru-RU" altLang="uk-UA" sz="1800" dirty="0">
                <a:solidFill>
                  <a:srgbClr val="30426A"/>
                </a:solidFill>
                <a:latin typeface="Google Sans Text"/>
              </a:rPr>
              <a:t> </a:t>
            </a:r>
            <a:r>
              <a:rPr lang="ru-RU" altLang="uk-UA" sz="1800" dirty="0" err="1">
                <a:solidFill>
                  <a:srgbClr val="30426A"/>
                </a:solidFill>
                <a:latin typeface="Google Sans Text"/>
              </a:rPr>
              <a:t>електричні</a:t>
            </a:r>
            <a:r>
              <a:rPr lang="ru-RU" altLang="uk-UA" sz="1800" dirty="0">
                <a:solidFill>
                  <a:srgbClr val="30426A"/>
                </a:solidFill>
                <a:latin typeface="Google Sans Text"/>
              </a:rPr>
              <a:t> </a:t>
            </a:r>
            <a:r>
              <a:rPr lang="ru-RU" altLang="uk-UA" sz="1800" dirty="0" err="1">
                <a:solidFill>
                  <a:srgbClr val="30426A"/>
                </a:solidFill>
                <a:latin typeface="Google Sans Text"/>
              </a:rPr>
              <a:t>коливання</a:t>
            </a:r>
            <a:r>
              <a:rPr lang="ru-RU" altLang="uk-UA" sz="1800" dirty="0">
                <a:solidFill>
                  <a:srgbClr val="30426A"/>
                </a:solidFill>
                <a:latin typeface="Google Sans Text"/>
              </a:rPr>
              <a:t> в </a:t>
            </a:r>
            <a:r>
              <a:rPr lang="ru-RU" altLang="uk-UA" sz="1800" dirty="0" err="1">
                <a:solidFill>
                  <a:srgbClr val="30426A"/>
                </a:solidFill>
                <a:latin typeface="Google Sans Text"/>
              </a:rPr>
              <a:t>мозку</a:t>
            </a:r>
            <a:r>
              <a:rPr lang="uk-UA" altLang="uk-UA" sz="1800" dirty="0">
                <a:solidFill>
                  <a:srgbClr val="30426A"/>
                </a:solidFill>
                <a:latin typeface="Google Sans Text"/>
              </a:rPr>
              <a:t>) </a:t>
            </a:r>
            <a:r>
              <a:rPr lang="uk-UA" altLang="uk-UA" sz="1800" dirty="0" err="1">
                <a:solidFill>
                  <a:srgbClr val="30426A"/>
                </a:solidFill>
                <a:latin typeface="Google Sans Text"/>
              </a:rPr>
              <a:t>натурально</a:t>
            </a:r>
            <a:r>
              <a:rPr lang="uk-UA" altLang="uk-UA" sz="1800" dirty="0">
                <a:solidFill>
                  <a:srgbClr val="30426A"/>
                </a:solidFill>
                <a:latin typeface="Google Sans Text"/>
              </a:rPr>
              <a:t> синхронізуються з ритмом періодичного зовнішнього стимулу, наприклад, світла або звуку</a:t>
            </a:r>
            <a:endParaRPr lang="uk-UA" altLang="uk-UA" sz="1800" dirty="0">
              <a:solidFill>
                <a:srgbClr val="30426A"/>
              </a:solidFill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4AB068-8D07-4B12-BA50-88EC8C8C0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658" y="1671435"/>
            <a:ext cx="6667500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6B616D-E46C-49BA-8374-6ACCE6719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94232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58026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Частоти </a:t>
            </a:r>
            <a:r>
              <a:rPr lang="en-US" b="1" dirty="0">
                <a:solidFill>
                  <a:srgbClr val="91BED5"/>
                </a:solidFill>
              </a:rPr>
              <a:t>Binaural beats</a:t>
            </a:r>
            <a:endParaRPr lang="uk-UA" b="1" dirty="0">
              <a:solidFill>
                <a:srgbClr val="91BED5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9D70F54-C420-4EF2-A89C-2D1C0C2A04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01" b="9644"/>
          <a:stretch/>
        </p:blipFill>
        <p:spPr bwMode="auto">
          <a:xfrm>
            <a:off x="3124339" y="1008765"/>
            <a:ext cx="5697637" cy="518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0AD572-C0D2-4C65-A26B-AE8767854784}"/>
              </a:ext>
            </a:extLst>
          </p:cNvPr>
          <p:cNvSpPr txBox="1"/>
          <p:nvPr/>
        </p:nvSpPr>
        <p:spPr>
          <a:xfrm>
            <a:off x="293365" y="6327380"/>
            <a:ext cx="749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Картинка з</a:t>
            </a:r>
            <a:r>
              <a:rPr lang="en-US" dirty="0"/>
              <a:t>: https://cliffordsegil.com/this-is-your-brain-on-binaural-beats/</a:t>
            </a:r>
            <a:endParaRPr lang="uk-U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CE686E-A088-46A8-8765-9202A675B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663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542322" y="149455"/>
            <a:ext cx="58026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Частота носія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AD572-C0D2-4C65-A26B-AE8767854784}"/>
              </a:ext>
            </a:extLst>
          </p:cNvPr>
          <p:cNvSpPr txBox="1"/>
          <p:nvPr/>
        </p:nvSpPr>
        <p:spPr>
          <a:xfrm>
            <a:off x="305833" y="5785215"/>
            <a:ext cx="74995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Картинка з</a:t>
            </a:r>
            <a:r>
              <a:rPr lang="en-US" dirty="0"/>
              <a:t>: https://www.istockphoto.com/vector/high-and-low-frequency-waves-diagram-in-physics-the-difference-between-high-and-low-gm2176390445-595883552</a:t>
            </a:r>
            <a:endParaRPr lang="uk-UA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BD24814-DE52-48F3-B412-96134F0B86E4}"/>
              </a:ext>
            </a:extLst>
          </p:cNvPr>
          <p:cNvSpPr txBox="1">
            <a:spLocks/>
          </p:cNvSpPr>
          <p:nvPr/>
        </p:nvSpPr>
        <p:spPr>
          <a:xfrm>
            <a:off x="676411" y="1874759"/>
            <a:ext cx="4289127" cy="27203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uk-UA" altLang="uk-UA" dirty="0"/>
              <a:t>Частота </a:t>
            </a:r>
            <a:r>
              <a:rPr lang="uk-UA" altLang="uk-UA"/>
              <a:t>носія </a:t>
            </a:r>
            <a:r>
              <a:rPr lang="ru-RU" altLang="uk-UA"/>
              <a:t>це висота звуку, що сприймається під</a:t>
            </a:r>
            <a:r>
              <a:rPr lang="ru-RU" altLang="uk-UA" dirty="0"/>
              <a:t> </a:t>
            </a:r>
            <a:r>
              <a:rPr lang="ru-RU" altLang="uk-UA"/>
              <a:t>час дії </a:t>
            </a:r>
            <a:r>
              <a:rPr lang="en-US" altLang="uk-UA"/>
              <a:t>Binaural beats</a:t>
            </a:r>
            <a:r>
              <a:rPr lang="ru-RU" altLang="uk-UA" dirty="0"/>
              <a:t>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ru-RU" altLang="uk-UA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altLang="uk-UA"/>
              <a:t>Вибір носія потенційно впливає на сприйняття та ефективність</a:t>
            </a:r>
            <a:r>
              <a:rPr lang="ru-RU" altLang="uk-UA" dirty="0"/>
              <a:t> БР</a:t>
            </a:r>
            <a:endParaRPr lang="uk-UA" altLang="uk-UA" dirty="0"/>
          </a:p>
        </p:txBody>
      </p:sp>
      <p:pic>
        <p:nvPicPr>
          <p:cNvPr id="4098" name="Picture 2" descr="30+ High Pitch Sound Stock Photos, Pictures &amp; Royalty-Free Images - iStock">
            <a:extLst>
              <a:ext uri="{FF2B5EF4-FFF2-40B4-BE49-F238E27FC236}">
                <a16:creationId xmlns:a16="http://schemas.microsoft.com/office/drawing/2014/main" id="{23297C12-5635-450B-A92C-0C2FBFC95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378" y="910180"/>
            <a:ext cx="582930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BCE1B0-9B47-4938-B086-238E2987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08707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6894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Маскування </a:t>
            </a:r>
            <a:r>
              <a:rPr lang="en-US" b="1" dirty="0">
                <a:solidFill>
                  <a:srgbClr val="91BED5"/>
                </a:solidFill>
              </a:rPr>
              <a:t>Binaural beats</a:t>
            </a:r>
            <a:endParaRPr lang="uk-UA" b="1" dirty="0">
              <a:solidFill>
                <a:srgbClr val="91BED5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AD572-C0D2-4C65-A26B-AE8767854784}"/>
              </a:ext>
            </a:extLst>
          </p:cNvPr>
          <p:cNvSpPr txBox="1"/>
          <p:nvPr/>
        </p:nvSpPr>
        <p:spPr>
          <a:xfrm>
            <a:off x="397273" y="6270319"/>
            <a:ext cx="749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Картинка з</a:t>
            </a:r>
            <a:r>
              <a:rPr lang="en-US" dirty="0"/>
              <a:t>:</a:t>
            </a:r>
            <a:r>
              <a:rPr lang="uk-UA" dirty="0"/>
              <a:t> </a:t>
            </a:r>
            <a:r>
              <a:rPr lang="en-US" dirty="0"/>
              <a:t>https://en.wikipedia.org/wiki/Colors_of_noise</a:t>
            </a:r>
            <a:endParaRPr lang="uk-UA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BD24814-DE52-48F3-B412-96134F0B86E4}"/>
              </a:ext>
            </a:extLst>
          </p:cNvPr>
          <p:cNvSpPr txBox="1">
            <a:spLocks/>
          </p:cNvSpPr>
          <p:nvPr/>
        </p:nvSpPr>
        <p:spPr>
          <a:xfrm>
            <a:off x="397273" y="1791012"/>
            <a:ext cx="4601645" cy="3275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uk-UA" altLang="uk-UA" sz="2000" b="1" dirty="0">
                <a:solidFill>
                  <a:srgbClr val="F16101"/>
                </a:solidFill>
              </a:rPr>
              <a:t>Маскування </a:t>
            </a:r>
            <a:r>
              <a:rPr lang="ru-RU" altLang="uk-UA" sz="2000" dirty="0" err="1">
                <a:solidFill>
                  <a:srgbClr val="30426A"/>
                </a:solidFill>
              </a:rPr>
              <a:t>передбачає</a:t>
            </a:r>
            <a:r>
              <a:rPr lang="ru-RU" altLang="uk-UA" sz="2000" dirty="0">
                <a:solidFill>
                  <a:srgbClr val="30426A"/>
                </a:solidFill>
              </a:rPr>
              <a:t> </a:t>
            </a:r>
            <a:r>
              <a:rPr lang="ru-RU" altLang="uk-UA" sz="2000" dirty="0" err="1">
                <a:solidFill>
                  <a:srgbClr val="30426A"/>
                </a:solidFill>
              </a:rPr>
              <a:t>додавання</a:t>
            </a:r>
            <a:r>
              <a:rPr lang="ru-RU" altLang="uk-UA" sz="2000" dirty="0">
                <a:solidFill>
                  <a:srgbClr val="30426A"/>
                </a:solidFill>
              </a:rPr>
              <a:t> фонового шуму, </a:t>
            </a:r>
            <a:r>
              <a:rPr lang="ru-RU" altLang="uk-UA" sz="2000" dirty="0" err="1">
                <a:solidFill>
                  <a:srgbClr val="30426A"/>
                </a:solidFill>
              </a:rPr>
              <a:t>який</a:t>
            </a:r>
            <a:r>
              <a:rPr lang="ru-RU" altLang="uk-UA" sz="2000" dirty="0">
                <a:solidFill>
                  <a:srgbClr val="30426A"/>
                </a:solidFill>
              </a:rPr>
              <a:t> </a:t>
            </a:r>
            <a:r>
              <a:rPr lang="ru-RU" altLang="uk-UA" sz="2000" dirty="0" err="1">
                <a:solidFill>
                  <a:srgbClr val="30426A"/>
                </a:solidFill>
              </a:rPr>
              <a:t>може</a:t>
            </a:r>
            <a:r>
              <a:rPr lang="ru-RU" altLang="uk-UA" sz="2000" dirty="0">
                <a:solidFill>
                  <a:srgbClr val="30426A"/>
                </a:solidFill>
              </a:rPr>
              <a:t> бути </a:t>
            </a:r>
            <a:r>
              <a:rPr lang="ru-RU" altLang="uk-UA" sz="2000" dirty="0" err="1">
                <a:solidFill>
                  <a:srgbClr val="30426A"/>
                </a:solidFill>
              </a:rPr>
              <a:t>білим</a:t>
            </a:r>
            <a:r>
              <a:rPr lang="ru-RU" altLang="uk-UA" sz="2000" dirty="0">
                <a:solidFill>
                  <a:srgbClr val="30426A"/>
                </a:solidFill>
              </a:rPr>
              <a:t> шумом, </a:t>
            </a:r>
            <a:r>
              <a:rPr lang="ru-RU" altLang="uk-UA" sz="2000" dirty="0" err="1">
                <a:solidFill>
                  <a:srgbClr val="30426A"/>
                </a:solidFill>
              </a:rPr>
              <a:t>рожевим</a:t>
            </a:r>
            <a:r>
              <a:rPr lang="ru-RU" altLang="uk-UA" sz="2000" dirty="0">
                <a:solidFill>
                  <a:srgbClr val="30426A"/>
                </a:solidFill>
              </a:rPr>
              <a:t> шумом, </a:t>
            </a:r>
            <a:r>
              <a:rPr lang="ru-RU" altLang="uk-UA" sz="2000" dirty="0" err="1">
                <a:solidFill>
                  <a:srgbClr val="30426A"/>
                </a:solidFill>
              </a:rPr>
              <a:t>музикою</a:t>
            </a:r>
            <a:r>
              <a:rPr lang="ru-RU" altLang="uk-UA" sz="2000" dirty="0">
                <a:solidFill>
                  <a:srgbClr val="30426A"/>
                </a:solidFill>
              </a:rPr>
              <a:t> </a:t>
            </a:r>
            <a:r>
              <a:rPr lang="ru-RU" altLang="uk-UA" sz="2000" dirty="0" err="1">
                <a:solidFill>
                  <a:srgbClr val="30426A"/>
                </a:solidFill>
              </a:rPr>
              <a:t>або</a:t>
            </a:r>
            <a:r>
              <a:rPr lang="ru-RU" altLang="uk-UA" sz="2000" dirty="0">
                <a:solidFill>
                  <a:srgbClr val="30426A"/>
                </a:solidFill>
              </a:rPr>
              <a:t> звуками </a:t>
            </a:r>
            <a:r>
              <a:rPr lang="ru-RU" altLang="uk-UA" sz="2000" dirty="0" err="1">
                <a:solidFill>
                  <a:srgbClr val="30426A"/>
                </a:solidFill>
              </a:rPr>
              <a:t>природи</a:t>
            </a:r>
            <a:endParaRPr lang="ru-RU" altLang="uk-UA" sz="2000" dirty="0">
              <a:solidFill>
                <a:srgbClr val="30426A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ru-RU" altLang="uk-UA" sz="2000" dirty="0">
              <a:solidFill>
                <a:srgbClr val="30426A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altLang="uk-UA" sz="2000" dirty="0" err="1">
                <a:solidFill>
                  <a:srgbClr val="30426A"/>
                </a:solidFill>
              </a:rPr>
              <a:t>Згідно</a:t>
            </a:r>
            <a:r>
              <a:rPr lang="ru-RU" altLang="uk-UA" sz="2000" dirty="0">
                <a:solidFill>
                  <a:srgbClr val="30426A"/>
                </a:solidFill>
              </a:rPr>
              <a:t> </a:t>
            </a:r>
            <a:r>
              <a:rPr lang="ru-RU" altLang="uk-UA" sz="2000" dirty="0" err="1">
                <a:solidFill>
                  <a:srgbClr val="30426A"/>
                </a:solidFill>
              </a:rPr>
              <a:t>огляду</a:t>
            </a:r>
            <a:r>
              <a:rPr lang="ru-RU" altLang="uk-UA" sz="2000" dirty="0">
                <a:solidFill>
                  <a:srgbClr val="30426A"/>
                </a:solidFill>
              </a:rPr>
              <a:t> </a:t>
            </a:r>
            <a:r>
              <a:rPr lang="ru-RU" altLang="uk-UA" sz="2000" dirty="0" err="1">
                <a:solidFill>
                  <a:srgbClr val="30426A"/>
                </a:solidFill>
              </a:rPr>
              <a:t>літератури</a:t>
            </a:r>
            <a:r>
              <a:rPr lang="ru-RU" altLang="uk-UA" sz="2000" dirty="0">
                <a:solidFill>
                  <a:srgbClr val="30426A"/>
                </a:solidFill>
              </a:rPr>
              <a:t>, </a:t>
            </a:r>
            <a:r>
              <a:rPr lang="ru-RU" altLang="uk-UA" sz="2000" dirty="0" err="1">
                <a:solidFill>
                  <a:srgbClr val="30426A"/>
                </a:solidFill>
              </a:rPr>
              <a:t>який</a:t>
            </a:r>
            <a:r>
              <a:rPr lang="ru-RU" altLang="uk-UA" sz="2000" dirty="0">
                <a:solidFill>
                  <a:srgbClr val="30426A"/>
                </a:solidFill>
              </a:rPr>
              <a:t> </a:t>
            </a:r>
            <a:r>
              <a:rPr lang="ru-RU" altLang="uk-UA" sz="2000" dirty="0" err="1">
                <a:solidFill>
                  <a:srgbClr val="30426A"/>
                </a:solidFill>
              </a:rPr>
              <a:t>був</a:t>
            </a:r>
            <a:r>
              <a:rPr lang="ru-RU" altLang="uk-UA" sz="2000" dirty="0">
                <a:solidFill>
                  <a:srgbClr val="30426A"/>
                </a:solidFill>
              </a:rPr>
              <a:t> проведений в </a:t>
            </a:r>
            <a:r>
              <a:rPr lang="ru-RU" altLang="uk-UA" sz="2000" dirty="0" err="1">
                <a:solidFill>
                  <a:srgbClr val="30426A"/>
                </a:solidFill>
              </a:rPr>
              <a:t>статті</a:t>
            </a:r>
            <a:r>
              <a:rPr lang="ru-RU" altLang="uk-UA" sz="2000" dirty="0">
                <a:solidFill>
                  <a:srgbClr val="30426A"/>
                </a:solidFill>
              </a:rPr>
              <a:t>, </a:t>
            </a:r>
            <a:r>
              <a:rPr lang="uk-UA" sz="20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дослідження без маскування зазвичай мають нульові результати</a:t>
            </a:r>
            <a:endParaRPr lang="ru-RU" altLang="uk-UA" sz="2000" dirty="0">
              <a:solidFill>
                <a:srgbClr val="30426A"/>
              </a:solidFill>
            </a:endParaRPr>
          </a:p>
        </p:txBody>
      </p:sp>
      <p:pic>
        <p:nvPicPr>
          <p:cNvPr id="5122" name="Picture 2" descr="undefined">
            <a:extLst>
              <a:ext uri="{FF2B5EF4-FFF2-40B4-BE49-F238E27FC236}">
                <a16:creationId xmlns:a16="http://schemas.microsoft.com/office/drawing/2014/main" id="{FC1D61B8-23D8-4E40-8F3F-06974A389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678" y="1125839"/>
            <a:ext cx="6044891" cy="453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D11B65-A479-420D-B9BD-C2579AF0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9545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6894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Час початку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BD24814-DE52-48F3-B412-96134F0B86E4}"/>
              </a:ext>
            </a:extLst>
          </p:cNvPr>
          <p:cNvSpPr txBox="1">
            <a:spLocks/>
          </p:cNvSpPr>
          <p:nvPr/>
        </p:nvSpPr>
        <p:spPr>
          <a:xfrm>
            <a:off x="397273" y="2430682"/>
            <a:ext cx="4601645" cy="1611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uk-UA" sz="2000" kern="100" dirty="0">
                <a:solidFill>
                  <a:srgbClr val="F1610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Час початку </a:t>
            </a:r>
            <a:r>
              <a:rPr lang="en-US" sz="2000" kern="100" dirty="0">
                <a:solidFill>
                  <a:srgbClr val="F1610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Binaural beats</a:t>
            </a:r>
            <a:r>
              <a:rPr lang="uk-UA" sz="2000" kern="100" dirty="0">
                <a:solidFill>
                  <a:srgbClr val="F1610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20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стосується того, коли вплив тонів починається і закінчується відносно завдання, тобто до та/або під час нього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048371-BE66-4A83-B62B-632E69CADB17}"/>
              </a:ext>
            </a:extLst>
          </p:cNvPr>
          <p:cNvSpPr/>
          <p:nvPr/>
        </p:nvSpPr>
        <p:spPr>
          <a:xfrm>
            <a:off x="7792656" y="2900903"/>
            <a:ext cx="2589835" cy="8594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Завдання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E43408-5D71-4553-81C2-F55650E6063B}"/>
              </a:ext>
            </a:extLst>
          </p:cNvPr>
          <p:cNvSpPr/>
          <p:nvPr/>
        </p:nvSpPr>
        <p:spPr>
          <a:xfrm>
            <a:off x="6655442" y="2430682"/>
            <a:ext cx="1137214" cy="4702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До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B9BEFC-31F1-460E-B7FE-14470E4B61E8}"/>
              </a:ext>
            </a:extLst>
          </p:cNvPr>
          <p:cNvSpPr/>
          <p:nvPr/>
        </p:nvSpPr>
        <p:spPr>
          <a:xfrm>
            <a:off x="7792656" y="2430682"/>
            <a:ext cx="2589835" cy="4702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Під час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3DC76F-5567-4EBB-B317-03228ACAE87F}"/>
              </a:ext>
            </a:extLst>
          </p:cNvPr>
          <p:cNvSpPr/>
          <p:nvPr/>
        </p:nvSpPr>
        <p:spPr>
          <a:xfrm>
            <a:off x="6655442" y="1960461"/>
            <a:ext cx="3727049" cy="47022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До та під час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D882E2-C17F-44DA-AC7D-EA75C370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04262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648744" y="2546299"/>
            <a:ext cx="6894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b="1" dirty="0">
                <a:solidFill>
                  <a:srgbClr val="91BED5"/>
                </a:solidFill>
              </a:rPr>
              <a:t>Демонстрація таблиці з попередніми дослідженнями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DAE152-FB8E-4F20-A872-4A42AB3B6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93189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6894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Мета дослідження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1CA5C-17CC-40B5-9F96-4E549BF051CE}"/>
              </a:ext>
            </a:extLst>
          </p:cNvPr>
          <p:cNvSpPr txBox="1"/>
          <p:nvPr/>
        </p:nvSpPr>
        <p:spPr>
          <a:xfrm>
            <a:off x="491612" y="2045110"/>
            <a:ext cx="5771536" cy="294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b="1" spc="-40" dirty="0">
                <a:solidFill>
                  <a:srgbClr val="F16101"/>
                </a:solidFill>
                <a:effectLst/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Дослідження спрямоване на вивчення впливу бінауральних ритмів на стійку увагу</a:t>
            </a:r>
          </a:p>
          <a:p>
            <a:endParaRPr lang="uk-UA" sz="1800" b="1" spc="-40" dirty="0">
              <a:solidFill>
                <a:srgbClr val="30426A"/>
              </a:solidFill>
              <a:effectLst/>
              <a:latin typeface="Corbel" panose="020B05030202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uk-UA" b="1" spc="-40" dirty="0">
              <a:solidFill>
                <a:srgbClr val="30426A"/>
              </a:solidFill>
              <a:latin typeface="Corbel" panose="020B05030202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uk-UA" sz="1800" b="1" spc="-40" dirty="0">
              <a:solidFill>
                <a:srgbClr val="30426A"/>
              </a:solidFill>
              <a:effectLst/>
              <a:latin typeface="Corbel" panose="020B05030202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Незважаючи на зростаючий інтерес до використання БР для когнітивного стимулювання, лише декілька досліджень безпосередньо вивчали вплив БР на стійку увагу, або пильність – здатність підтримувати концентрацію протягом тривалого періоду часу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9E4046-462B-4521-8CAD-5A3385630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1672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Передумови проведення дослідження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1CA5C-17CC-40B5-9F96-4E549BF051CE}"/>
              </a:ext>
            </a:extLst>
          </p:cNvPr>
          <p:cNvSpPr txBox="1"/>
          <p:nvPr/>
        </p:nvSpPr>
        <p:spPr>
          <a:xfrm>
            <a:off x="466048" y="1720840"/>
            <a:ext cx="79830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spc="-40" dirty="0">
                <a:solidFill>
                  <a:srgbClr val="F16101"/>
                </a:solidFill>
                <a:effectLst/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Частоти</a:t>
            </a:r>
            <a:r>
              <a:rPr lang="en-US" sz="1800" spc="-40" dirty="0">
                <a:solidFill>
                  <a:srgbClr val="F16101"/>
                </a:solidFill>
                <a:effectLst/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spc="-40" dirty="0">
                <a:solidFill>
                  <a:srgbClr val="30426A"/>
                </a:solidFill>
                <a:effectLst/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spc="-40" dirty="0">
                <a:solidFill>
                  <a:srgbClr val="30426A"/>
                </a:solidFill>
                <a:effectLst/>
                <a:latin typeface="Corbel" panose="020B05030202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бета та гама хвилі, оскільки вони корелюють з пильністю та фокусом</a:t>
            </a:r>
          </a:p>
          <a:p>
            <a:endParaRPr lang="en-US" spc="-40" dirty="0">
              <a:solidFill>
                <a:srgbClr val="30426A"/>
              </a:solidFill>
              <a:latin typeface="Corbel" panose="020B05030202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uk-UA" sz="1800" kern="100" spc="-40" dirty="0">
                <a:solidFill>
                  <a:srgbClr val="F16101"/>
                </a:solidFill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Частота нос</a:t>
            </a:r>
            <a:r>
              <a:rPr lang="uk-UA" kern="100" spc="-40" dirty="0">
                <a:solidFill>
                  <a:srgbClr val="F16101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ія</a:t>
            </a:r>
            <a:r>
              <a:rPr lang="en-US" kern="100" spc="-40" dirty="0">
                <a:solidFill>
                  <a:srgbClr val="F16101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340 та 400 </a:t>
            </a:r>
            <a:r>
              <a:rPr lang="en-US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Hz</a:t>
            </a:r>
          </a:p>
          <a:p>
            <a:endParaRPr lang="uk-UA" kern="100" spc="-40" dirty="0">
              <a:solidFill>
                <a:srgbClr val="30426A"/>
              </a:solidFill>
              <a:latin typeface="Corbel" panose="020B05030202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uk-UA" sz="1800" kern="100" spc="-40" dirty="0">
                <a:solidFill>
                  <a:srgbClr val="F16101"/>
                </a:solidFill>
                <a:effectLst/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</a:t>
            </a:r>
            <a:r>
              <a:rPr lang="uk-UA" kern="100" spc="-40" dirty="0">
                <a:solidFill>
                  <a:srgbClr val="F16101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аскування</a:t>
            </a:r>
            <a:r>
              <a:rPr lang="en-US" kern="100" spc="-40" dirty="0">
                <a:solidFill>
                  <a:srgbClr val="F16101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uk-UA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порівняння білого шуму з його відсутністю. </a:t>
            </a:r>
            <a:endParaRPr lang="en-US" kern="100" spc="-40" dirty="0">
              <a:solidFill>
                <a:srgbClr val="30426A"/>
              </a:solidFill>
              <a:latin typeface="Corbel" panose="020B05030202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uk-UA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Важливо зазначити, що якщо білий шум в тому числі застосовувався з контрольною групою</a:t>
            </a:r>
            <a:r>
              <a:rPr lang="en-US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uk-UA" kern="100" spc="-40" dirty="0">
              <a:solidFill>
                <a:srgbClr val="30426A"/>
              </a:solidFill>
              <a:latin typeface="Corbel" panose="020B05030202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uk-UA" kern="100" spc="-40" dirty="0">
              <a:solidFill>
                <a:srgbClr val="30426A"/>
              </a:solidFill>
              <a:latin typeface="Corbel" panose="020B05030202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uk-UA" kern="100" spc="-40" dirty="0">
                <a:solidFill>
                  <a:srgbClr val="F16101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Час початку</a:t>
            </a:r>
            <a:r>
              <a:rPr lang="en-US" kern="100" spc="-40" dirty="0">
                <a:solidFill>
                  <a:srgbClr val="F16101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uk-UA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під час</a:t>
            </a:r>
            <a:r>
              <a:rPr lang="en-US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 </a:t>
            </a:r>
            <a:r>
              <a:rPr lang="uk-UA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 </a:t>
            </a:r>
            <a:r>
              <a:rPr lang="en-US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uk-UA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 + під час</a:t>
            </a:r>
            <a:r>
              <a:rPr lang="en-US" kern="100" spc="-40" dirty="0">
                <a:solidFill>
                  <a:srgbClr val="30426A"/>
                </a:solidFill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endParaRPr lang="uk-UA" kern="100" spc="-40" dirty="0">
              <a:solidFill>
                <a:srgbClr val="30426A"/>
              </a:solidFill>
              <a:latin typeface="Corbel" panose="020B05030202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EFFBD6-5A84-4198-BC09-7134B3E63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23698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Проведення дослідження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1CA5C-17CC-40B5-9F96-4E549BF051CE}"/>
              </a:ext>
            </a:extLst>
          </p:cNvPr>
          <p:cNvSpPr txBox="1"/>
          <p:nvPr/>
        </p:nvSpPr>
        <p:spPr>
          <a:xfrm>
            <a:off x="823716" y="1444435"/>
            <a:ext cx="954557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kern="100" spc="-40" dirty="0">
                <a:solidFill>
                  <a:srgbClr val="30426A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Для проведення дослідження було </a:t>
            </a:r>
            <a:r>
              <a:rPr lang="uk-UA" sz="1600" kern="100" spc="-40" dirty="0">
                <a:solidFill>
                  <a:srgbClr val="F1610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64 особи з середнім віком 19</a:t>
            </a:r>
          </a:p>
          <a:p>
            <a:endParaRPr lang="uk-UA" sz="16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endParaRPr lang="en-US" sz="16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r>
              <a:rPr lang="uk-UA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Під час кожної сесії учасники </a:t>
            </a:r>
            <a:r>
              <a:rPr lang="uk-UA" sz="1600" dirty="0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заповнювали опитувальник профілю емоційних станів</a:t>
            </a:r>
            <a:r>
              <a:rPr lang="uk-UA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 (POM</a:t>
            </a:r>
            <a:r>
              <a:rPr lang="en-US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S)</a:t>
            </a:r>
            <a:endParaRPr lang="uk-UA" sz="16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endParaRPr lang="en-US" sz="16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r>
              <a:rPr lang="uk-UA" sz="1600" dirty="0" err="1">
                <a:solidFill>
                  <a:srgbClr val="30426A"/>
                </a:solidFill>
                <a:ea typeface="Times New Roman" panose="02020603050405020304" pitchFamily="18" charset="0"/>
              </a:rPr>
              <a:t>А</a:t>
            </a:r>
            <a:r>
              <a:rPr lang="uk-UA" sz="16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удіостимул</a:t>
            </a:r>
            <a:r>
              <a:rPr lang="uk-UA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 (БР або чистий тон) починав відтворюватися на </a:t>
            </a:r>
            <a:r>
              <a:rPr lang="uk-UA" sz="1600" dirty="0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початку 10-хвилинного періоду перед завданням або з початком самого завдання</a:t>
            </a:r>
            <a:r>
              <a:rPr lang="en-US" sz="1600" dirty="0">
                <a:solidFill>
                  <a:srgbClr val="30426A"/>
                </a:solidFill>
                <a:ea typeface="Times New Roman" panose="02020603050405020304" pitchFamily="18" charset="0"/>
              </a:rPr>
              <a:t>.</a:t>
            </a:r>
          </a:p>
          <a:p>
            <a:endParaRPr lang="en-US" sz="16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r>
              <a:rPr lang="uk-UA" sz="1600" dirty="0">
                <a:solidFill>
                  <a:srgbClr val="30426A"/>
                </a:solidFill>
                <a:ea typeface="Times New Roman" panose="02020603050405020304" pitchFamily="18" charset="0"/>
              </a:rPr>
              <a:t>У</a:t>
            </a:r>
            <a:r>
              <a:rPr lang="uk-UA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часники виконували повний тест </a:t>
            </a:r>
            <a:r>
              <a:rPr lang="uk-UA" sz="1600" dirty="0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IP-CPT</a:t>
            </a:r>
          </a:p>
          <a:p>
            <a:endParaRPr lang="uk-UA" sz="16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r>
              <a:rPr lang="uk-UA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Після завершення завдання учасники </a:t>
            </a:r>
            <a:r>
              <a:rPr lang="uk-UA" sz="1600" dirty="0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повторно</a:t>
            </a:r>
            <a:r>
              <a:rPr lang="uk-UA" sz="16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 заповнювали POMS та оцінювали свій досвід прослуховування </a:t>
            </a:r>
            <a:r>
              <a:rPr lang="uk-UA" sz="16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аудіостимулу</a:t>
            </a:r>
            <a:endParaRPr lang="uk-UA" sz="1600" kern="100" spc="-40" dirty="0">
              <a:solidFill>
                <a:srgbClr val="30426A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uk-UA" sz="1600" kern="100" spc="-40" dirty="0">
              <a:solidFill>
                <a:srgbClr val="30426A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600" kern="100" spc="-40" dirty="0">
              <a:solidFill>
                <a:srgbClr val="30426A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b="1" kern="100" spc="-40" dirty="0">
                <a:solidFill>
                  <a:srgbClr val="F1610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uk-UA" sz="1600" b="1" kern="100" spc="-40" dirty="0">
                <a:solidFill>
                  <a:srgbClr val="F1610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1600" b="1" kern="100" spc="-40" dirty="0">
                <a:solidFill>
                  <a:srgbClr val="F1610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CPT</a:t>
            </a:r>
            <a:r>
              <a:rPr lang="en-US" sz="1600" kern="100" spc="-40" dirty="0">
                <a:solidFill>
                  <a:srgbClr val="30426A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uk-UA" sz="1600" spc="-1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Учасники переглядали серію 4-значних чисел і мали натискати пробіл, коли стимул був ідентичним попередньому, що відбувалося у 10% випробувань. Числа подавалися в одному з 4 </a:t>
            </a:r>
            <a:r>
              <a:rPr lang="uk-UA" sz="1600" spc="-1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рандомізованих</a:t>
            </a:r>
            <a:r>
              <a:rPr lang="uk-UA" sz="1600" spc="-1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 порядків.</a:t>
            </a:r>
            <a:endParaRPr lang="uk-UA" sz="1600" kern="100" spc="-40" dirty="0">
              <a:solidFill>
                <a:srgbClr val="30426A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A068B2-BEF4-40FF-A730-171D4BE30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88280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Результати дослідження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DF096-227B-48DD-9AD5-129C82CD4452}"/>
              </a:ext>
            </a:extLst>
          </p:cNvPr>
          <p:cNvSpPr txBox="1"/>
          <p:nvPr/>
        </p:nvSpPr>
        <p:spPr>
          <a:xfrm>
            <a:off x="869436" y="1464474"/>
            <a:ext cx="9545579" cy="3453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Відповідно до спаду пильності, відсоток влучань різко знизився в усіх блоках випробувань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Однак, всупереч нашій гіпотезі, БР в середньому не послабили спад пильності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kern="100" dirty="0">
              <a:solidFill>
                <a:srgbClr val="30426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Подальші тести для кожної умови тривалості показали, що лінійний спад пильності був менш вираженим під час дії БР порівняно з чистим тоном у тих учасників, які отримували </a:t>
            </a:r>
            <a:r>
              <a:rPr lang="uk-UA" sz="18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аудіостимуляцію</a:t>
            </a:r>
            <a:r>
              <a:rPr lang="uk-UA" sz="18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до та під час IP-CPT, </a:t>
            </a:r>
            <a:r>
              <a:rPr lang="uk-UA" sz="18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але не у тих, хто отримував її лише під час виконання завдання</a:t>
            </a:r>
            <a:endParaRPr lang="en-US" sz="1800" dirty="0">
              <a:solidFill>
                <a:srgbClr val="F1610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kern="100" dirty="0">
              <a:solidFill>
                <a:srgbClr val="3042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Однак навіть серед учасників, які отримували </a:t>
            </a:r>
            <a:r>
              <a:rPr lang="uk-UA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аудіостимуляцію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до та під час IP-CPT, результати значуще не відрізнялися між БР та чистим тоном у жодному з блоків випробувань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A75073-A216-4B7A-A78A-028320072674}"/>
              </a:ext>
            </a:extLst>
          </p:cNvPr>
          <p:cNvSpPr txBox="1">
            <a:spLocks/>
          </p:cNvSpPr>
          <p:nvPr/>
        </p:nvSpPr>
        <p:spPr>
          <a:xfrm>
            <a:off x="6007381" y="545661"/>
            <a:ext cx="1252956" cy="4601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2400" b="1" dirty="0">
                <a:solidFill>
                  <a:srgbClr val="91BED5"/>
                </a:solidFill>
              </a:rPr>
              <a:t>базові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4484B2-934B-442D-A2F0-9585CD90D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36044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Результати дослідження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DF096-227B-48DD-9AD5-129C82CD4452}"/>
              </a:ext>
            </a:extLst>
          </p:cNvPr>
          <p:cNvSpPr txBox="1"/>
          <p:nvPr/>
        </p:nvSpPr>
        <p:spPr>
          <a:xfrm>
            <a:off x="942588" y="1998768"/>
            <a:ext cx="9545579" cy="2461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Хоча БР суттєво не вплинули на спад пильності в усіх блоках, були отримані докази того, що БР впливали на середній показник виявлення цілей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sz="1800" kern="100" dirty="0">
              <a:solidFill>
                <a:srgbClr val="3042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Зокрема середній відсоток влучань був вищим під час БР порівняно з чистим тоном серед осіб, які отримували 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гамма-биття з низькою частотою носія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але не серед тих, хто отримував гамма-биття з високою частотою носія</a:t>
            </a:r>
            <a:endParaRPr lang="en-US" sz="1800" kern="100" dirty="0">
              <a:solidFill>
                <a:srgbClr val="3042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sz="1800" kern="100" dirty="0">
              <a:solidFill>
                <a:srgbClr val="3042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6FA9DD-0821-4B94-AAFE-6B2B5C7815BF}"/>
              </a:ext>
            </a:extLst>
          </p:cNvPr>
          <p:cNvSpPr txBox="1">
            <a:spLocks/>
          </p:cNvSpPr>
          <p:nvPr/>
        </p:nvSpPr>
        <p:spPr>
          <a:xfrm>
            <a:off x="6007380" y="545661"/>
            <a:ext cx="2350235" cy="4601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2400" b="1" dirty="0">
                <a:solidFill>
                  <a:srgbClr val="91BED5"/>
                </a:solidFill>
              </a:rPr>
              <a:t>Низька частота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1A8E43-BE44-40A2-8588-7DB05F42A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56749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Результати дослідження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DF096-227B-48DD-9AD5-129C82CD4452}"/>
              </a:ext>
            </a:extLst>
          </p:cNvPr>
          <p:cNvSpPr txBox="1"/>
          <p:nvPr/>
        </p:nvSpPr>
        <p:spPr>
          <a:xfrm>
            <a:off x="869436" y="1354746"/>
            <a:ext cx="9545579" cy="3453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Середній відсоток влучань також був вищим під час БР порівняно з чистим тоном серед осіб, 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 яких був фоновий білий шум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але не серед тих, хто не мав фонового шум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kern="100" dirty="0">
              <a:solidFill>
                <a:srgbClr val="30426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kern="100" dirty="0">
              <a:solidFill>
                <a:srgbClr val="30426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Вплив БР та фонового шуму на відсоток влучань мав тенденцію до подальшої взаємодії з тривалістю </a:t>
            </a:r>
            <a:r>
              <a:rPr lang="uk-UA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аудіостимуляції</a:t>
            </a:r>
            <a:endParaRPr lang="uk-UA" sz="1800" kern="100" dirty="0">
              <a:solidFill>
                <a:srgbClr val="3042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Зокрема, 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середній відсоток влучань був вищим в умові БР порівняно з чистим тоном лише тоді, коли був присутній білий шум і </a:t>
            </a:r>
            <a:r>
              <a:rPr lang="uk-UA" sz="1800" kern="100" dirty="0" err="1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аудіостимул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починав відтворюватися разом із завданням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а не в умовах білий шум/стимул до завдання, відсутність білого шуму/стимул разом із завданням або відсутність білого шуму/стимул до.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6FA9DD-0821-4B94-AAFE-6B2B5C7815BF}"/>
              </a:ext>
            </a:extLst>
          </p:cNvPr>
          <p:cNvSpPr txBox="1">
            <a:spLocks/>
          </p:cNvSpPr>
          <p:nvPr/>
        </p:nvSpPr>
        <p:spPr>
          <a:xfrm>
            <a:off x="6007380" y="545661"/>
            <a:ext cx="2350235" cy="4601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2400" b="1" dirty="0">
                <a:solidFill>
                  <a:srgbClr val="91BED5"/>
                </a:solidFill>
              </a:rPr>
              <a:t>Фоновий шум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D6F26E-AA41-4FCE-AE0E-A00843A43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11049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Результати дослідження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DF096-227B-48DD-9AD5-129C82CD4452}"/>
              </a:ext>
            </a:extLst>
          </p:cNvPr>
          <p:cNvSpPr txBox="1"/>
          <p:nvPr/>
        </p:nvSpPr>
        <p:spPr>
          <a:xfrm>
            <a:off x="933444" y="1851324"/>
            <a:ext cx="9545579" cy="3155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Вплив БР на відсоток влучань суттєво 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 змінювався залежно від частоти носія, тривалості або взаємодій, не згаданих вище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Частота помилкових </a:t>
            </a:r>
            <a:r>
              <a:rPr lang="uk-UA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тривог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була низькою (усі середні значення &lt; 2%) і суттєво не відрізнялася між БР та контролем або залежно від параметрів БР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kern="100" dirty="0">
              <a:solidFill>
                <a:srgbClr val="30426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spc="-10" dirty="0">
                <a:solidFill>
                  <a:srgbClr val="3042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Зміни в шкалах POMS до та після завдання суттєво не варіювалися залежно від БР або будь-яких параметрів </a:t>
            </a:r>
            <a:r>
              <a:rPr lang="uk-UA" sz="1800" spc="-10" dirty="0" err="1">
                <a:solidFill>
                  <a:srgbClr val="3042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аудіостимуляції</a:t>
            </a:r>
            <a:endParaRPr lang="uk-UA" sz="1800" spc="-10" dirty="0">
              <a:solidFill>
                <a:srgbClr val="30426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kern="100" dirty="0">
              <a:solidFill>
                <a:srgbClr val="30426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dirty="0">
                <a:solidFill>
                  <a:srgbClr val="3042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Суб’єктивні оцінки приємності та сприйняття впливу </a:t>
            </a:r>
            <a:r>
              <a:rPr lang="uk-UA" sz="1800" dirty="0" err="1">
                <a:solidFill>
                  <a:srgbClr val="3042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аудіостимулу</a:t>
            </a:r>
            <a:r>
              <a:rPr lang="uk-UA" sz="1800" dirty="0">
                <a:solidFill>
                  <a:srgbClr val="3042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результативність не відрізнялися між групою бінауральних </a:t>
            </a:r>
            <a:r>
              <a:rPr lang="uk-UA" sz="1800" dirty="0" err="1">
                <a:solidFill>
                  <a:srgbClr val="3042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биттів</a:t>
            </a:r>
            <a:r>
              <a:rPr lang="uk-UA" sz="1800" dirty="0">
                <a:solidFill>
                  <a:srgbClr val="3042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і контрольною групою</a:t>
            </a:r>
            <a:endParaRPr lang="uk-UA" sz="1800" kern="100" dirty="0">
              <a:solidFill>
                <a:srgbClr val="3042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6FA9DD-0821-4B94-AAFE-6B2B5C7815BF}"/>
              </a:ext>
            </a:extLst>
          </p:cNvPr>
          <p:cNvSpPr txBox="1">
            <a:spLocks/>
          </p:cNvSpPr>
          <p:nvPr/>
        </p:nvSpPr>
        <p:spPr>
          <a:xfrm>
            <a:off x="6007380" y="545661"/>
            <a:ext cx="2350235" cy="4601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2400" b="1" dirty="0">
                <a:solidFill>
                  <a:srgbClr val="91BED5"/>
                </a:solidFill>
              </a:rPr>
              <a:t>Не вплинуло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EE63E3-4DAC-4C5B-B82F-66D7B0EF7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50128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Результати дослідження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DF096-227B-48DD-9AD5-129C82CD4452}"/>
              </a:ext>
            </a:extLst>
          </p:cNvPr>
          <p:cNvSpPr txBox="1"/>
          <p:nvPr/>
        </p:nvSpPr>
        <p:spPr>
          <a:xfrm>
            <a:off x="878580" y="1288670"/>
            <a:ext cx="9545579" cy="4843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Відповідно до нав’язування ритму, скоригована за шумом густина потужності ЕЕГ (PD</a:t>
            </a:r>
            <a:r>
              <a:rPr lang="uk-UA" sz="1800" kern="100" spc="-25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S2N) на частоті бета-</a:t>
            </a:r>
            <a:r>
              <a:rPr lang="uk-UA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биттів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(16 </a:t>
            </a:r>
            <a:r>
              <a:rPr lang="uk-UA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Гц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була вищою під час БР порівняно з чистим тоном у осіб, які отримували бета-биття, але не у тих, хто отримував гамма-биття;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sz="1800" kern="100" dirty="0">
              <a:solidFill>
                <a:srgbClr val="F1610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Навпаки, </a:t>
            </a:r>
            <a:r>
              <a:rPr lang="uk-UA" sz="1800" kern="100" spc="-1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S2N</a:t>
            </a:r>
            <a:r>
              <a:rPr lang="uk-UA" sz="1800" kern="100" spc="-15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kern="100" spc="-1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PD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на частоті 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гамма-</a:t>
            </a:r>
            <a:r>
              <a:rPr lang="uk-UA" sz="1800" kern="100" dirty="0" err="1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биттів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(40 </a:t>
            </a:r>
            <a:r>
              <a:rPr lang="uk-UA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Гц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була вищою під час БР порівняно з чистим тоном у осіб, які отримували </a:t>
            </a:r>
            <a:r>
              <a:rPr lang="uk-UA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гамма-биття, але не бета-биття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kern="100" dirty="0">
              <a:solidFill>
                <a:srgbClr val="30426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b="1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Зокрема, білий шум послаблював нав’язування ритму</a:t>
            </a: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але цей ефект був сильнішим для гамма-БР, ніж для бета.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Загалом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нав’язування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ритму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мозку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відбувалося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кожній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умові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але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було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особливо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вираженим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у </a:t>
            </a:r>
            <a:r>
              <a:rPr lang="ru-RU" sz="1800" kern="100" dirty="0" err="1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учасників</a:t>
            </a:r>
            <a:r>
              <a:rPr lang="ru-RU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800" kern="100" dirty="0" err="1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які</a:t>
            </a:r>
            <a:r>
              <a:rPr lang="ru-RU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отримували</a:t>
            </a:r>
            <a:r>
              <a:rPr lang="ru-RU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гамма-БР, і коли </a:t>
            </a:r>
            <a:r>
              <a:rPr lang="ru-RU" sz="1800" kern="100" dirty="0" err="1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биття</a:t>
            </a:r>
            <a:r>
              <a:rPr lang="ru-RU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не </a:t>
            </a:r>
            <a:r>
              <a:rPr lang="ru-RU" sz="1800" kern="100" dirty="0" err="1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маскувалися</a:t>
            </a:r>
            <a:r>
              <a:rPr lang="ru-RU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білим</a:t>
            </a:r>
            <a:r>
              <a:rPr lang="ru-RU" sz="1800" kern="100" dirty="0">
                <a:solidFill>
                  <a:srgbClr val="F1610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шумом.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sz="1800" kern="100" dirty="0">
              <a:solidFill>
                <a:srgbClr val="3042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Одним із можливих пояснень є перехід від гамма- до бета-ритму у відповідь на білий шум(ми дякуємо анонімному рецензенту за пропозицію цієї гіпотези)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6FA9DD-0821-4B94-AAFE-6B2B5C7815BF}"/>
              </a:ext>
            </a:extLst>
          </p:cNvPr>
          <p:cNvSpPr txBox="1">
            <a:spLocks/>
          </p:cNvSpPr>
          <p:nvPr/>
        </p:nvSpPr>
        <p:spPr>
          <a:xfrm>
            <a:off x="6007380" y="545661"/>
            <a:ext cx="3100044" cy="4601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2400" b="1" dirty="0" err="1">
                <a:solidFill>
                  <a:srgbClr val="91BED5"/>
                </a:solidFill>
              </a:rPr>
              <a:t>Нав</a:t>
            </a:r>
            <a:r>
              <a:rPr lang="en-US" sz="2400" b="1" dirty="0">
                <a:solidFill>
                  <a:srgbClr val="91BED5"/>
                </a:solidFill>
              </a:rPr>
              <a:t>’</a:t>
            </a:r>
            <a:r>
              <a:rPr lang="uk-UA" sz="2400" b="1" dirty="0" err="1">
                <a:solidFill>
                  <a:srgbClr val="91BED5"/>
                </a:solidFill>
              </a:rPr>
              <a:t>язування</a:t>
            </a:r>
            <a:r>
              <a:rPr lang="uk-UA" sz="2400" b="1" dirty="0">
                <a:solidFill>
                  <a:srgbClr val="91BED5"/>
                </a:solidFill>
              </a:rPr>
              <a:t> ритму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560180-EA34-4BC3-9121-08D1CA5C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6876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Недоліки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DF096-227B-48DD-9AD5-129C82CD4452}"/>
              </a:ext>
            </a:extLst>
          </p:cNvPr>
          <p:cNvSpPr txBox="1"/>
          <p:nvPr/>
        </p:nvSpPr>
        <p:spPr>
          <a:xfrm>
            <a:off x="842004" y="1600550"/>
            <a:ext cx="9545579" cy="3656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Дослідження проводиться в ідеальних умовах, які не можливі в реальному житті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kern="100" dirty="0">
              <a:solidFill>
                <a:srgbClr val="30426A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Наприклад, гучність була встановлена на 70 </a:t>
            </a:r>
            <a:r>
              <a:rPr lang="uk-UA" sz="1800" kern="100" dirty="0" err="1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дБ</a:t>
            </a:r>
            <a:r>
              <a:rPr lang="uk-UA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що могло стати причиною, що учасники визначили і БР, і чистий тон дещо не приємними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kern="100" dirty="0">
              <a:solidFill>
                <a:srgbClr val="30426A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Аудіо, яке ми будемо прослуховувати з сервісів, наприклад, </a:t>
            </a:r>
            <a:r>
              <a:rPr lang="en-US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YouTube</a:t>
            </a:r>
            <a:r>
              <a:rPr lang="uk-UA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або </a:t>
            </a:r>
            <a:r>
              <a:rPr lang="en-US" sz="1800" kern="100" dirty="0">
                <a:solidFill>
                  <a:srgbClr val="30426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Spotify</a:t>
            </a:r>
            <a:r>
              <a:rPr lang="uk-UA" kern="100" dirty="0">
                <a:solidFill>
                  <a:srgbClr val="30426A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може мати інші частоти, які не відповідають написаним. Також на це може впливати якість обладнання</a:t>
            </a:r>
            <a:endParaRPr lang="uk-UA" sz="1800" kern="100" dirty="0">
              <a:solidFill>
                <a:srgbClr val="30426A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uk-UA" sz="1800" kern="100" dirty="0">
              <a:solidFill>
                <a:srgbClr val="30426A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uk-UA" kern="100" dirty="0">
                <a:solidFill>
                  <a:srgbClr val="30426A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uk-UA" sz="1800" spc="-2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Нарешті, ми досліджували зручну вибірку студентів коледжу, що додатково обмежує можливість узагальнення результатів</a:t>
            </a:r>
            <a:r>
              <a:rPr lang="uk-UA" kern="100" dirty="0">
                <a:solidFill>
                  <a:srgbClr val="30426A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uk-UA" sz="1800" kern="100" dirty="0">
              <a:solidFill>
                <a:srgbClr val="30426A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D21322-CEE9-4790-8C25-FFB0ED36F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81219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746543-2C40-44DE-B846-EABD10D2A1C2}"/>
              </a:ext>
            </a:extLst>
          </p:cNvPr>
          <p:cNvSpPr txBox="1">
            <a:spLocks/>
          </p:cNvSpPr>
          <p:nvPr/>
        </p:nvSpPr>
        <p:spPr>
          <a:xfrm>
            <a:off x="293365" y="0"/>
            <a:ext cx="10315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b="1" dirty="0">
                <a:solidFill>
                  <a:srgbClr val="91BED5"/>
                </a:solidFill>
              </a:rPr>
              <a:t>Висновки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1CA5C-17CC-40B5-9F96-4E549BF051CE}"/>
              </a:ext>
            </a:extLst>
          </p:cNvPr>
          <p:cNvSpPr txBox="1"/>
          <p:nvPr/>
        </p:nvSpPr>
        <p:spPr>
          <a:xfrm>
            <a:off x="740368" y="1443841"/>
            <a:ext cx="97660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kern="100" spc="-40" dirty="0">
                <a:solidFill>
                  <a:srgbClr val="30426A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Було</a:t>
            </a:r>
            <a:r>
              <a:rPr lang="uk-UA" b="1" kern="100" spc="-40" dirty="0">
                <a:solidFill>
                  <a:srgbClr val="30426A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отримано </a:t>
            </a:r>
            <a:r>
              <a:rPr lang="uk-UA" sz="1800" dirty="0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мінімальні докази того, що БР покращують стійку увагу 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(тобто послаблюють зниження пильності)</a:t>
            </a:r>
          </a:p>
          <a:p>
            <a:endParaRPr lang="uk-UA" sz="18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Проте загальна ефективність уваги протягом усього завдання була кращою за певних параметрів БР (а саме гамма-частота 40 </a:t>
            </a:r>
            <a:r>
              <a:rPr lang="uk-UA" sz="18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Гц</a:t>
            </a:r>
            <a:r>
              <a:rPr lang="uk-UA" dirty="0">
                <a:solidFill>
                  <a:srgbClr val="30426A"/>
                </a:solidFill>
                <a:ea typeface="Times New Roman" panose="02020603050405020304" pitchFamily="18" charset="0"/>
              </a:rPr>
              <a:t> 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з низькою частотою носія 340 </a:t>
            </a:r>
            <a:r>
              <a:rPr lang="uk-UA" sz="18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Гц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; БР із фоновим білим шумом).</a:t>
            </a:r>
          </a:p>
          <a:p>
            <a:endParaRPr lang="uk-UA" dirty="0">
              <a:solidFill>
                <a:srgbClr val="30426A"/>
              </a:solidFill>
              <a:ea typeface="Times New Roman" panose="02020603050405020304" pitchFamily="18" charset="0"/>
            </a:endParaRPr>
          </a:p>
          <a:p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БР справді викликали значне нав’язування на їхній специфічній частоті (тобто зростання на 16 </a:t>
            </a:r>
            <a:r>
              <a:rPr lang="uk-UA" sz="18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Гц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 для бета-</a:t>
            </a:r>
            <a:r>
              <a:rPr lang="uk-UA" sz="18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биттів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 і на 40 </a:t>
            </a:r>
            <a:r>
              <a:rPr lang="uk-UA" sz="18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Гц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 для гамма-</a:t>
            </a:r>
            <a:r>
              <a:rPr lang="uk-UA" sz="1800" dirty="0" err="1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биттів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). </a:t>
            </a:r>
          </a:p>
          <a:p>
            <a:endParaRPr lang="uk-UA" dirty="0">
              <a:solidFill>
                <a:srgbClr val="30426A"/>
              </a:solidFill>
              <a:ea typeface="Times New Roman" panose="02020603050405020304" pitchFamily="18" charset="0"/>
            </a:endParaRPr>
          </a:p>
          <a:p>
            <a:r>
              <a:rPr lang="uk-UA" dirty="0">
                <a:solidFill>
                  <a:srgbClr val="30426A"/>
                </a:solidFill>
                <a:ea typeface="Times New Roman" panose="02020603050405020304" pitchFamily="18" charset="0"/>
              </a:rPr>
              <a:t>Д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ослідження виявило, що </a:t>
            </a:r>
            <a:r>
              <a:rPr lang="uk-UA" sz="1800" dirty="0">
                <a:solidFill>
                  <a:srgbClr val="F16101"/>
                </a:solidFill>
                <a:effectLst/>
                <a:ea typeface="Times New Roman" panose="02020603050405020304" pitchFamily="18" charset="0"/>
              </a:rPr>
              <a:t>БР покращували увагу за наявності фонового білого шуму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, але не за його відсутності. </a:t>
            </a:r>
          </a:p>
          <a:p>
            <a:endParaRPr lang="uk-UA" sz="1800" dirty="0">
              <a:solidFill>
                <a:srgbClr val="30426A"/>
              </a:solidFill>
              <a:effectLst/>
              <a:ea typeface="Times New Roman" panose="02020603050405020304" pitchFamily="18" charset="0"/>
            </a:endParaRPr>
          </a:p>
          <a:p>
            <a:r>
              <a:rPr lang="uk-UA" dirty="0">
                <a:solidFill>
                  <a:srgbClr val="30426A"/>
                </a:solidFill>
                <a:ea typeface="Times New Roman" panose="02020603050405020304" pitchFamily="18" charset="0"/>
              </a:rPr>
              <a:t>Н</a:t>
            </a:r>
            <a:r>
              <a:rPr lang="uk-UA" sz="1800" dirty="0">
                <a:solidFill>
                  <a:srgbClr val="30426A"/>
                </a:solidFill>
                <a:effectLst/>
                <a:ea typeface="Times New Roman" panose="02020603050405020304" pitchFamily="18" charset="0"/>
              </a:rPr>
              <a:t>аявність білого шуму перешкоджала нав’язуванню ритму мозку, але вона покращувала загальну ефективність уваги, що свідчить про інший механізм впливу білого шуму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73C457-D6DB-4452-85FC-42FE3A08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8265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40864-7044-4A4F-A471-C3933899C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273478"/>
          </a:xfrm>
        </p:spPr>
        <p:txBody>
          <a:bodyPr/>
          <a:lstStyle/>
          <a:p>
            <a:pPr algn="ctr"/>
            <a:r>
              <a:rPr lang="uk-UA" b="1" dirty="0">
                <a:solidFill>
                  <a:srgbClr val="30426A"/>
                </a:solidFill>
              </a:rPr>
              <a:t>Дякую за увагу!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D7F35A-9952-4A92-95C3-96014112F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EB01-58CF-4619-B0B5-4F77EED13A5A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711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1372</Words>
  <Application>Microsoft Office PowerPoint</Application>
  <PresentationFormat>Widescreen</PresentationFormat>
  <Paragraphs>155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Corbel</vt:lpstr>
      <vt:lpstr>Google Sans Text</vt:lpstr>
      <vt:lpstr>Times New Roman</vt:lpstr>
      <vt:lpstr>Office Theme</vt:lpstr>
      <vt:lpstr> Дослідження впливу бінауральних ритмів на роботу мозку та увагу</vt:lpstr>
      <vt:lpstr>Зміст</vt:lpstr>
      <vt:lpstr>Що таке Binaural beats?</vt:lpstr>
      <vt:lpstr>Що таке Brain entrainment?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Дякую за увагу!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Дослідження впливу бінауральних ритмів на роботу мозку та увагу</dc:title>
  <dc:creator>Ivan Schedrovskiy</dc:creator>
  <cp:lastModifiedBy>Ivan Schedrovskiy</cp:lastModifiedBy>
  <cp:revision>111</cp:revision>
  <dcterms:created xsi:type="dcterms:W3CDTF">2025-12-24T02:15:05Z</dcterms:created>
  <dcterms:modified xsi:type="dcterms:W3CDTF">2025-12-24T09:18:45Z</dcterms:modified>
</cp:coreProperties>
</file>