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5" r:id="rId3"/>
    <p:sldId id="257" r:id="rId4"/>
    <p:sldId id="258" r:id="rId5"/>
    <p:sldId id="259" r:id="rId6"/>
    <p:sldId id="260" r:id="rId7"/>
    <p:sldId id="261" r:id="rId8"/>
    <p:sldId id="262" r:id="rId9"/>
    <p:sldId id="266" r:id="rId10"/>
    <p:sldId id="264" r:id="rId11"/>
    <p:sldId id="263" r:id="rId12"/>
  </p:sldIdLst>
  <p:sldSz cx="12192000" cy="6858000"/>
  <p:notesSz cx="6858000" cy="9144000"/>
  <p:defaultTextStyle>
    <a:defPPr>
      <a:defRPr lang="uk-UA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Ivan Schedrovskiy" initials="IS" lastIdx="1" clrIdx="0">
    <p:extLst>
      <p:ext uri="{19B8F6BF-5375-455C-9EA6-DF929625EA0E}">
        <p15:presenceInfo xmlns:p15="http://schemas.microsoft.com/office/powerpoint/2012/main" userId="154bcf7994271aaf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C7BA7"/>
    <a:srgbClr val="649CBF"/>
    <a:srgbClr val="F0F0F2"/>
    <a:srgbClr val="BDE2F2"/>
    <a:srgbClr val="A8D5F2"/>
    <a:srgbClr val="0F403C"/>
    <a:srgbClr val="127368"/>
    <a:srgbClr val="89A6A2"/>
    <a:srgbClr val="BFBFBF"/>
    <a:srgbClr val="4D595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902" autoAdjust="0"/>
  </p:normalViewPr>
  <p:slideViewPr>
    <p:cSldViewPr snapToGrid="0">
      <p:cViewPr varScale="1">
        <p:scale>
          <a:sx n="105" d="100"/>
          <a:sy n="105" d="100"/>
        </p:scale>
        <p:origin x="798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commentAuthors" Target="commentAuthor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PNG</c:v>
                </c:pt>
              </c:strCache>
            </c:strRef>
          </c:tx>
          <c:spPr>
            <a:solidFill>
              <a:srgbClr val="BDE2F2"/>
            </a:solidFill>
            <a:ln>
              <a:noFill/>
            </a:ln>
            <a:effectLst/>
          </c:spPr>
          <c:invertIfNegative val="0"/>
          <c:dLbls>
            <c:dLbl>
              <c:idx val="0"/>
              <c:showLegendKey val="0"/>
              <c:showVal val="1"/>
              <c:showCatName val="0"/>
              <c:showSerName val="1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5950-4B07-876F-843AA03F1B8A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uk-UA"/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numRef>
              <c:f>Sheet1!$A$2</c:f>
              <c:numCache>
                <c:formatCode>General</c:formatCode>
                <c:ptCount val="1"/>
              </c:numCache>
            </c:numRef>
          </c:cat>
          <c:val>
            <c:numRef>
              <c:f>Sheet1!$B$2</c:f>
              <c:numCache>
                <c:formatCode>General</c:formatCode>
                <c:ptCount val="1"/>
                <c:pt idx="0">
                  <c:v>1190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5950-4B07-876F-843AA03F1B8A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MozJPEG</c:v>
                </c:pt>
              </c:strCache>
            </c:strRef>
          </c:tx>
          <c:spPr>
            <a:solidFill>
              <a:srgbClr val="A8D5F2"/>
            </a:solidFill>
            <a:ln>
              <a:noFill/>
            </a:ln>
            <a:effectLst/>
          </c:spPr>
          <c:invertIfNegative val="0"/>
          <c:dLbls>
            <c:dLbl>
              <c:idx val="0"/>
              <c:showLegendKey val="0"/>
              <c:showVal val="1"/>
              <c:showCatName val="0"/>
              <c:showSerName val="1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6-5950-4B07-876F-843AA03F1B8A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uk-UA"/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numRef>
              <c:f>Sheet1!$A$2</c:f>
              <c:numCache>
                <c:formatCode>General</c:formatCode>
                <c:ptCount val="1"/>
              </c:numCache>
            </c:numRef>
          </c:cat>
          <c:val>
            <c:numRef>
              <c:f>Sheet1!$C$2</c:f>
              <c:numCache>
                <c:formatCode>General</c:formatCode>
                <c:ptCount val="1"/>
                <c:pt idx="0">
                  <c:v>86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5950-4B07-876F-843AA03F1B8A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WebP</c:v>
                </c:pt>
              </c:strCache>
            </c:strRef>
          </c:tx>
          <c:spPr>
            <a:solidFill>
              <a:srgbClr val="649CBF"/>
            </a:solidFill>
            <a:ln>
              <a:noFill/>
            </a:ln>
            <a:effectLst/>
          </c:spPr>
          <c:invertIfNegative val="0"/>
          <c:dLbls>
            <c:dLbl>
              <c:idx val="0"/>
              <c:showLegendKey val="0"/>
              <c:showVal val="1"/>
              <c:showCatName val="0"/>
              <c:showSerName val="1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5950-4B07-876F-843AA03F1B8A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uk-UA"/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numRef>
              <c:f>Sheet1!$A$2</c:f>
              <c:numCache>
                <c:formatCode>General</c:formatCode>
                <c:ptCount val="1"/>
              </c:numCache>
            </c:numRef>
          </c:cat>
          <c:val>
            <c:numRef>
              <c:f>Sheet1!$D$2</c:f>
              <c:numCache>
                <c:formatCode>General</c:formatCode>
                <c:ptCount val="1"/>
                <c:pt idx="0">
                  <c:v>53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5950-4B07-876F-843AA03F1B8A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AVIF</c:v>
                </c:pt>
              </c:strCache>
            </c:strRef>
          </c:tx>
          <c:spPr>
            <a:solidFill>
              <a:srgbClr val="4C7BA7"/>
            </a:solidFill>
            <a:ln>
              <a:noFill/>
            </a:ln>
            <a:effectLst/>
          </c:spPr>
          <c:invertIfNegative val="0"/>
          <c:dLbls>
            <c:dLbl>
              <c:idx val="0"/>
              <c:showLegendKey val="0"/>
              <c:showVal val="1"/>
              <c:showCatName val="0"/>
              <c:showSerName val="1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8-5950-4B07-876F-843AA03F1B8A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uk-UA"/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numRef>
              <c:f>Sheet1!$A$2</c:f>
              <c:numCache>
                <c:formatCode>General</c:formatCode>
                <c:ptCount val="1"/>
              </c:numCache>
            </c:numRef>
          </c:cat>
          <c:val>
            <c:numRef>
              <c:f>Sheet1!$E$2</c:f>
              <c:numCache>
                <c:formatCode>0.00</c:formatCode>
                <c:ptCount val="1"/>
                <c:pt idx="0">
                  <c:v>27.3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5950-4B07-876F-843AA03F1B8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1363736111"/>
        <c:axId val="1363736943"/>
      </c:barChart>
      <c:catAx>
        <c:axId val="1363736111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uk-UA"/>
          </a:p>
        </c:txPr>
        <c:crossAx val="1363736943"/>
        <c:crosses val="autoZero"/>
        <c:auto val="1"/>
        <c:lblAlgn val="ctr"/>
        <c:lblOffset val="100"/>
        <c:noMultiLvlLbl val="0"/>
      </c:catAx>
      <c:valAx>
        <c:axId val="1363736943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33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dirty="0"/>
                  <a:t>kB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33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uk-UA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uk-UA"/>
          </a:p>
        </c:txPr>
        <c:crossAx val="136373611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uk-UA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MozJPEG</c:v>
                </c:pt>
              </c:strCache>
            </c:strRef>
          </c:tx>
          <c:spPr>
            <a:solidFill>
              <a:srgbClr val="BDE2F2"/>
            </a:solidFill>
            <a:ln>
              <a:noFill/>
            </a:ln>
            <a:effectLst/>
          </c:spPr>
          <c:invertIfNegative val="0"/>
          <c:dLbls>
            <c:dLbl>
              <c:idx val="0"/>
              <c:showLegendKey val="0"/>
              <c:showVal val="1"/>
              <c:showCatName val="0"/>
              <c:showSerName val="1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5950-4B07-876F-843AA03F1B8A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uk-UA"/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numRef>
              <c:f>Sheet1!$A$2</c:f>
              <c:numCache>
                <c:formatCode>General</c:formatCode>
                <c:ptCount val="1"/>
              </c:numCache>
            </c:numRef>
          </c:cat>
          <c:val>
            <c:numRef>
              <c:f>Sheet1!$B$2</c:f>
              <c:numCache>
                <c:formatCode>General</c:formatCode>
                <c:ptCount val="1"/>
                <c:pt idx="0">
                  <c:v>453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5950-4B07-876F-843AA03F1B8A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WebP</c:v>
                </c:pt>
              </c:strCache>
            </c:strRef>
          </c:tx>
          <c:spPr>
            <a:solidFill>
              <a:srgbClr val="A8D5F2"/>
            </a:solidFill>
            <a:ln>
              <a:noFill/>
            </a:ln>
            <a:effectLst/>
          </c:spPr>
          <c:invertIfNegative val="0"/>
          <c:dLbls>
            <c:dLbl>
              <c:idx val="0"/>
              <c:showLegendKey val="0"/>
              <c:showVal val="1"/>
              <c:showCatName val="0"/>
              <c:showSerName val="1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6-5950-4B07-876F-843AA03F1B8A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uk-UA"/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numRef>
              <c:f>Sheet1!$A$2</c:f>
              <c:numCache>
                <c:formatCode>General</c:formatCode>
                <c:ptCount val="1"/>
              </c:numCache>
            </c:numRef>
          </c:cat>
          <c:val>
            <c:numRef>
              <c:f>Sheet1!$C$2</c:f>
              <c:numCache>
                <c:formatCode>General</c:formatCode>
                <c:ptCount val="1"/>
                <c:pt idx="0">
                  <c:v>189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5950-4B07-876F-843AA03F1B8A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AVIF</c:v>
                </c:pt>
              </c:strCache>
            </c:strRef>
          </c:tx>
          <c:spPr>
            <a:solidFill>
              <a:srgbClr val="649CBF"/>
            </a:solidFill>
            <a:ln>
              <a:noFill/>
            </a:ln>
            <a:effectLst/>
          </c:spPr>
          <c:invertIfNegative val="0"/>
          <c:dLbls>
            <c:dLbl>
              <c:idx val="0"/>
              <c:showLegendKey val="0"/>
              <c:showVal val="1"/>
              <c:showCatName val="0"/>
              <c:showSerName val="1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5950-4B07-876F-843AA03F1B8A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uk-UA"/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numRef>
              <c:f>Sheet1!$A$2</c:f>
              <c:numCache>
                <c:formatCode>General</c:formatCode>
                <c:ptCount val="1"/>
              </c:numCache>
            </c:numRef>
          </c:cat>
          <c:val>
            <c:numRef>
              <c:f>Sheet1!$D$2</c:f>
              <c:numCache>
                <c:formatCode>General</c:formatCode>
                <c:ptCount val="1"/>
                <c:pt idx="0">
                  <c:v>106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5950-4B07-876F-843AA03F1B8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1363736111"/>
        <c:axId val="1363736943"/>
      </c:barChart>
      <c:catAx>
        <c:axId val="1363736111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uk-UA"/>
          </a:p>
        </c:txPr>
        <c:crossAx val="1363736943"/>
        <c:crosses val="autoZero"/>
        <c:auto val="1"/>
        <c:lblAlgn val="ctr"/>
        <c:lblOffset val="100"/>
        <c:noMultiLvlLbl val="0"/>
      </c:catAx>
      <c:valAx>
        <c:axId val="1363736943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33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dirty="0"/>
                  <a:t>kB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33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uk-UA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uk-UA"/>
          </a:p>
        </c:txPr>
        <c:crossAx val="136373611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uk-UA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14D4A4-937B-4DCD-9866-40F5220379E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uk-U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5167C66-621E-4255-93A7-5A717622785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uk-U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D78DC7-8823-4F81-A98D-6C6C50FA6E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644887-F4AB-4580-B051-FF7B91C761A7}" type="datetimeFigureOut">
              <a:rPr lang="uk-UA" smtClean="0"/>
              <a:t>21.12.2025</a:t>
            </a:fld>
            <a:endParaRPr lang="uk-U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062504-048A-44B7-91B0-A889A28563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CCB3F1-DAB3-4A01-B5C6-884C6D222F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49BC63-89A1-49D4-919B-6D11ED101A20}" type="slidenum">
              <a:rPr lang="uk-UA" smtClean="0"/>
              <a:t>‹#›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196309673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8E300D-431B-4A02-8AD5-0940A91466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uk-U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52EA57-E849-4A4B-A44D-0A856E56C4B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uk-U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4BAE2A-D617-4A2A-B00D-C92B8D4C7D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644887-F4AB-4580-B051-FF7B91C761A7}" type="datetimeFigureOut">
              <a:rPr lang="uk-UA" smtClean="0"/>
              <a:t>21.12.2025</a:t>
            </a:fld>
            <a:endParaRPr lang="uk-U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E6BF55B-4D64-4849-9369-CBB274F624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366A0FB-AE11-4AFA-BAED-3C01D5EC50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49BC63-89A1-49D4-919B-6D11ED101A20}" type="slidenum">
              <a:rPr lang="uk-UA" smtClean="0"/>
              <a:t>‹#›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41961654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B0FB18-8A8D-4D34-8DD5-033E1BB4B6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uk-U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CB00983-68FC-4CB8-B8CB-EB80697455A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E3E334-719C-4EE0-960B-BA420B0D71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644887-F4AB-4580-B051-FF7B91C761A7}" type="datetimeFigureOut">
              <a:rPr lang="uk-UA" smtClean="0"/>
              <a:t>21.12.2025</a:t>
            </a:fld>
            <a:endParaRPr lang="uk-U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D4F68B2-3AE1-4EF9-B1EB-3F63EA471C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F1101A-97B8-4CC2-B880-AF109F30F8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49BC63-89A1-49D4-919B-6D11ED101A20}" type="slidenum">
              <a:rPr lang="uk-UA" smtClean="0"/>
              <a:t>‹#›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162143033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BC88F1-707D-4CC1-A059-B51B0C52A8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uk-U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77A689-506D-43FF-AC1C-8534A036581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uk-U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D6F7D15-E0C3-4506-B7B8-F0E9ECA9A06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uk-U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E5A2522-3DEB-4BFD-8D42-2EC915AEA4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644887-F4AB-4580-B051-FF7B91C761A7}" type="datetimeFigureOut">
              <a:rPr lang="uk-UA" smtClean="0"/>
              <a:t>21.12.2025</a:t>
            </a:fld>
            <a:endParaRPr lang="uk-U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D0BA39A-1F2D-4AC2-97BF-959EEA2E44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28C71F2-27D9-43BA-8571-3CB786116E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49BC63-89A1-49D4-919B-6D11ED101A20}" type="slidenum">
              <a:rPr lang="uk-UA" smtClean="0"/>
              <a:t>‹#›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25342618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127AC1-F5A7-48BD-9D9C-324083C9CA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uk-U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76F1989-8A77-4794-AC72-474C8BECAB6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88B0A70-EF2F-4F05-86BE-8EF214F80AF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uk-UA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BB019DA-7979-4E84-8711-D01F884CF36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F40D024-5386-4B0B-94D2-18A380A32CC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uk-UA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8862AD2-53F3-4928-AE91-A3A2486BB9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644887-F4AB-4580-B051-FF7B91C761A7}" type="datetimeFigureOut">
              <a:rPr lang="uk-UA" smtClean="0"/>
              <a:t>21.12.2025</a:t>
            </a:fld>
            <a:endParaRPr lang="uk-UA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7C5A3EC-583D-48CA-BBEA-0ED25641ED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F6A93F2-6CFF-43E8-B3D5-7D1D332447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49BC63-89A1-49D4-919B-6D11ED101A20}" type="slidenum">
              <a:rPr lang="uk-UA" smtClean="0"/>
              <a:t>‹#›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6073875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BD212D-17A5-4990-A368-54D2EDA288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uk-U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92F29C4-4ECF-4BFD-AEC4-7E68B1F3B4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644887-F4AB-4580-B051-FF7B91C761A7}" type="datetimeFigureOut">
              <a:rPr lang="uk-UA" smtClean="0"/>
              <a:t>21.12.2025</a:t>
            </a:fld>
            <a:endParaRPr lang="uk-U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4F6ED74-65C9-4F0B-92A4-0FC15E7794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426A605-E5E9-4886-9F5B-23E123320C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49BC63-89A1-49D4-919B-6D11ED101A20}" type="slidenum">
              <a:rPr lang="uk-UA" smtClean="0"/>
              <a:t>‹#›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185896519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83B9DAA-60BA-4D29-9E8A-DA58A83F81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644887-F4AB-4580-B051-FF7B91C761A7}" type="datetimeFigureOut">
              <a:rPr lang="uk-UA" smtClean="0"/>
              <a:t>21.12.2025</a:t>
            </a:fld>
            <a:endParaRPr lang="uk-UA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141B7E2-DB78-417A-B8C4-69F0F972DD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1C8FA1F-EE7D-42C3-B035-DBFCBECA04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49BC63-89A1-49D4-919B-6D11ED101A20}" type="slidenum">
              <a:rPr lang="uk-UA" smtClean="0"/>
              <a:t>‹#›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24427107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A94BAF-DB66-43F7-AB44-40A3E8C718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uk-U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041268-4237-43E2-A4F3-D4361E5102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uk-U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D0FAEBD-5635-433D-BADD-A3CBBAAF3CB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B3FB32E-B2F1-4121-8DC0-BECDA7BF16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644887-F4AB-4580-B051-FF7B91C761A7}" type="datetimeFigureOut">
              <a:rPr lang="uk-UA" smtClean="0"/>
              <a:t>21.12.2025</a:t>
            </a:fld>
            <a:endParaRPr lang="uk-U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28B178B-1885-479D-AF10-A7F78F78DB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0CEE376-1945-41A7-AF41-FC58FED542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49BC63-89A1-49D4-919B-6D11ED101A20}" type="slidenum">
              <a:rPr lang="uk-UA" smtClean="0"/>
              <a:t>‹#›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245906461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3226B2-6F8C-4428-9105-927FCE5E00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uk-UA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DF54F5C-6906-477F-B2D7-BC48F2D27A5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uk-U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D025A54-DF68-4C3A-B13B-E59CE1A7243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FFE019-C62A-47FA-8BF5-7599732818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644887-F4AB-4580-B051-FF7B91C761A7}" type="datetimeFigureOut">
              <a:rPr lang="uk-UA" smtClean="0"/>
              <a:t>21.12.2025</a:t>
            </a:fld>
            <a:endParaRPr lang="uk-U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8F7815C-EEB6-4D98-BF86-68235E2678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4C7D756-72D1-4AB6-B740-91723A7AE8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49BC63-89A1-49D4-919B-6D11ED101A20}" type="slidenum">
              <a:rPr lang="uk-UA" smtClean="0"/>
              <a:t>‹#›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160469498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30B978-4911-4AC4-918F-57FC061301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uk-U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CC9497C-BBF9-4413-B93C-E6ED41719FA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uk-U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549471-4E00-40CF-9F26-5687B6169A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644887-F4AB-4580-B051-FF7B91C761A7}" type="datetimeFigureOut">
              <a:rPr lang="uk-UA" smtClean="0"/>
              <a:t>21.12.2025</a:t>
            </a:fld>
            <a:endParaRPr lang="uk-U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402B3A-6D83-4F83-8975-CB8025FFDB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C4EFBBD-6299-4F74-9DAA-FE98ADB237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49BC63-89A1-49D4-919B-6D11ED101A20}" type="slidenum">
              <a:rPr lang="uk-UA" smtClean="0"/>
              <a:t>‹#›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327331545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34339D0-2006-4073-A22C-144D501314D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uk-U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124B960-6E98-4ECF-A9BD-8ED5C628F02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uk-U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9CF839-1B93-4311-BEE6-C7D4017CB6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644887-F4AB-4580-B051-FF7B91C761A7}" type="datetimeFigureOut">
              <a:rPr lang="uk-UA" smtClean="0"/>
              <a:t>21.12.2025</a:t>
            </a:fld>
            <a:endParaRPr lang="uk-U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E2D20E4-04C3-4397-A60E-6182AE8338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CFF493-93F8-4535-AEBE-A3FB190B50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49BC63-89A1-49D4-919B-6D11ED101A20}" type="slidenum">
              <a:rPr lang="uk-UA" smtClean="0"/>
              <a:t>‹#›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143677431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C3EF388-FF9C-49BC-84C9-C822BDE640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uk-U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5EE3BC6-0144-4722-B8F3-D553A97BCDA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uk-U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8AE16B-E183-492B-9D89-419A231DDA5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B644887-F4AB-4580-B051-FF7B91C761A7}" type="datetimeFigureOut">
              <a:rPr lang="uk-UA" smtClean="0"/>
              <a:t>21.12.2025</a:t>
            </a:fld>
            <a:endParaRPr lang="uk-U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4A9846-2B2C-4DFC-A5BC-22C56704174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uk-U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16F41A5-F967-49FB-8E5A-64B5D8FF94C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49BC63-89A1-49D4-919B-6D11ED101A20}" type="slidenum">
              <a:rPr lang="uk-UA" smtClean="0"/>
              <a:t>‹#›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4964650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uk-UA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chart" Target="../charts/chart2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hyperlink" Target="https://squoosh.app/" TargetMode="External"/><Relationship Id="rId3" Type="http://schemas.openxmlformats.org/officeDocument/2006/relationships/hyperlink" Target="https://jakearchibald.com/2020/avif-has-landed/" TargetMode="External"/><Relationship Id="rId7" Type="http://schemas.openxmlformats.org/officeDocument/2006/relationships/hyperlink" Target="https://topdogfilmfestival.com.au/the-science-behind-why-dogs-are-so-cute/" TargetMode="External"/><Relationship Id="rId2" Type="http://schemas.openxmlformats.org/officeDocument/2006/relationships/hyperlink" Target="https://en.wikipedia.org/wiki/AVIF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wallpapersafari.com/w/U6PCaJ" TargetMode="External"/><Relationship Id="rId11" Type="http://schemas.openxmlformats.org/officeDocument/2006/relationships/hyperlink" Target="https://color.adobe.com/" TargetMode="External"/><Relationship Id="rId5" Type="http://schemas.openxmlformats.org/officeDocument/2006/relationships/hyperlink" Target="https://uploadcare.com/blog/avif-image-format/" TargetMode="External"/><Relationship Id="rId10" Type="http://schemas.openxmlformats.org/officeDocument/2006/relationships/hyperlink" Target="https://carbon.now.sh/" TargetMode="External"/><Relationship Id="rId4" Type="http://schemas.openxmlformats.org/officeDocument/2006/relationships/hyperlink" Target="https://tsev.dev/posts/2023-11-10-should-avif-be-the-dominant-image-format/" TargetMode="External"/><Relationship Id="rId9" Type="http://schemas.openxmlformats.org/officeDocument/2006/relationships/hyperlink" Target="https://caniuse.com/avif" TargetMode="Externa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0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C0BD07-0D69-4C5A-BDBC-1CCD4BE855F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88720" y="1041400"/>
            <a:ext cx="9814560" cy="2387600"/>
          </a:xfrm>
        </p:spPr>
        <p:txBody>
          <a:bodyPr/>
          <a:lstStyle/>
          <a:p>
            <a:r>
              <a:rPr lang="en-US" dirty="0">
                <a:solidFill>
                  <a:srgbClr val="4C7BA7"/>
                </a:solidFill>
                <a:latin typeface="+mn-lt"/>
              </a:rPr>
              <a:t>AV1 Image File Format</a:t>
            </a:r>
            <a:endParaRPr lang="uk-UA" dirty="0">
              <a:solidFill>
                <a:srgbClr val="4C7BA7"/>
              </a:solidFill>
              <a:latin typeface="+mn-lt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950C940-5ACB-44B1-97DE-FA0F4C2C8D3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uk-UA" dirty="0">
                <a:solidFill>
                  <a:srgbClr val="649CBF"/>
                </a:solidFill>
              </a:rPr>
              <a:t>Виконав </a:t>
            </a:r>
            <a:r>
              <a:rPr lang="uk-UA" dirty="0" err="1">
                <a:solidFill>
                  <a:srgbClr val="649CBF"/>
                </a:solidFill>
              </a:rPr>
              <a:t>Щедровський</a:t>
            </a:r>
            <a:r>
              <a:rPr lang="uk-UA" dirty="0">
                <a:solidFill>
                  <a:srgbClr val="649CBF"/>
                </a:solidFill>
              </a:rPr>
              <a:t> Іван КНТ-113сп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9C6F68E-FC0A-4F7C-B39C-2FCD8464474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5158154" y="-203982"/>
            <a:ext cx="457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870177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0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A08169FB-BFC3-4F6D-B5FE-5489645F2260}"/>
              </a:ext>
            </a:extLst>
          </p:cNvPr>
          <p:cNvSpPr txBox="1">
            <a:spLocks/>
          </p:cNvSpPr>
          <p:nvPr/>
        </p:nvSpPr>
        <p:spPr>
          <a:xfrm>
            <a:off x="553720" y="38544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uk-UA" sz="5400" dirty="0">
                <a:solidFill>
                  <a:srgbClr val="4C7BA7"/>
                </a:solidFill>
              </a:rPr>
              <a:t>Зміст презентації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ED6113F-1016-4813-BEC3-076CAC95CB8D}"/>
              </a:ext>
            </a:extLst>
          </p:cNvPr>
          <p:cNvSpPr txBox="1"/>
          <p:nvPr/>
        </p:nvSpPr>
        <p:spPr>
          <a:xfrm>
            <a:off x="11149781" y="6341806"/>
            <a:ext cx="5940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fld id="{5BBD6B9B-B0DF-4DAF-8DCF-9B69419DEA99}" type="slidenum">
              <a:rPr lang="uk-UA" smtClean="0"/>
              <a:t>2</a:t>
            </a:fld>
            <a:endParaRPr lang="uk-UA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CD1DB7C-2F46-4EE3-A11D-9C56C9DE5630}"/>
              </a:ext>
            </a:extLst>
          </p:cNvPr>
          <p:cNvSpPr txBox="1"/>
          <p:nvPr/>
        </p:nvSpPr>
        <p:spPr>
          <a:xfrm>
            <a:off x="983575" y="1959632"/>
            <a:ext cx="7417856" cy="33590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Clr>
                <a:srgbClr val="649CBF"/>
              </a:buClr>
              <a:buFont typeface="Wingdings" panose="05000000000000000000" pitchFamily="2" charset="2"/>
              <a:buChar char="§"/>
            </a:pPr>
            <a:r>
              <a:rPr lang="uk-UA" sz="2400" dirty="0"/>
              <a:t>Технології в основі </a:t>
            </a:r>
            <a:r>
              <a:rPr lang="en-US" sz="2400" dirty="0"/>
              <a:t>AVIF</a:t>
            </a:r>
            <a:endParaRPr lang="uk-UA" sz="2400" dirty="0"/>
          </a:p>
          <a:p>
            <a:pPr marL="342900" indent="-342900">
              <a:lnSpc>
                <a:spcPct val="150000"/>
              </a:lnSpc>
              <a:buClr>
                <a:srgbClr val="649CBF"/>
              </a:buClr>
              <a:buFont typeface="Wingdings" panose="05000000000000000000" pitchFamily="2" charset="2"/>
              <a:buChar char="§"/>
            </a:pPr>
            <a:r>
              <a:rPr lang="uk-UA" sz="2400" dirty="0"/>
              <a:t>Порівняння</a:t>
            </a:r>
            <a:r>
              <a:rPr lang="en-US" sz="2400" dirty="0"/>
              <a:t> </a:t>
            </a:r>
            <a:r>
              <a:rPr lang="uk-UA" sz="2400" dirty="0"/>
              <a:t>об</a:t>
            </a:r>
            <a:r>
              <a:rPr lang="en-US" sz="2400" dirty="0"/>
              <a:t>’</a:t>
            </a:r>
            <a:r>
              <a:rPr lang="uk-UA" sz="2400" dirty="0" err="1"/>
              <a:t>єму</a:t>
            </a:r>
            <a:r>
              <a:rPr lang="uk-UA" sz="2400" dirty="0"/>
              <a:t> файлу </a:t>
            </a:r>
            <a:r>
              <a:rPr lang="en-US" sz="2400" dirty="0"/>
              <a:t>PNG</a:t>
            </a:r>
            <a:r>
              <a:rPr lang="uk-UA" sz="2400" dirty="0"/>
              <a:t> та </a:t>
            </a:r>
            <a:r>
              <a:rPr lang="en-US" sz="2400" dirty="0"/>
              <a:t>AVIF</a:t>
            </a:r>
            <a:endParaRPr lang="uk-UA" sz="2400" dirty="0"/>
          </a:p>
          <a:p>
            <a:pPr marL="342900" indent="-342900">
              <a:lnSpc>
                <a:spcPct val="150000"/>
              </a:lnSpc>
              <a:buClr>
                <a:srgbClr val="649CBF"/>
              </a:buClr>
              <a:buFont typeface="Wingdings" panose="05000000000000000000" pitchFamily="2" charset="2"/>
              <a:buChar char="§"/>
            </a:pPr>
            <a:r>
              <a:rPr lang="uk-UA" sz="2400" dirty="0"/>
              <a:t>Порівняння об</a:t>
            </a:r>
            <a:r>
              <a:rPr lang="en-US" sz="2400" dirty="0"/>
              <a:t>’</a:t>
            </a:r>
            <a:r>
              <a:rPr lang="uk-UA" sz="2400" dirty="0" err="1"/>
              <a:t>єму</a:t>
            </a:r>
            <a:r>
              <a:rPr lang="uk-UA" sz="2400" dirty="0"/>
              <a:t> файлу </a:t>
            </a:r>
            <a:r>
              <a:rPr lang="en-US" sz="2400" dirty="0"/>
              <a:t>JPEG </a:t>
            </a:r>
            <a:r>
              <a:rPr lang="uk-UA" sz="2400" dirty="0"/>
              <a:t>та </a:t>
            </a:r>
            <a:r>
              <a:rPr lang="en-US" sz="2400" dirty="0"/>
              <a:t>AVIF</a:t>
            </a:r>
            <a:endParaRPr lang="uk-UA" sz="2400" dirty="0"/>
          </a:p>
          <a:p>
            <a:pPr marL="342900" indent="-342900">
              <a:lnSpc>
                <a:spcPct val="150000"/>
              </a:lnSpc>
              <a:buClr>
                <a:srgbClr val="649CBF"/>
              </a:buClr>
              <a:buFont typeface="Wingdings" panose="05000000000000000000" pitchFamily="2" charset="2"/>
              <a:buChar char="§"/>
            </a:pPr>
            <a:r>
              <a:rPr lang="uk-UA" sz="2400" dirty="0"/>
              <a:t>Порівняння якості зображення </a:t>
            </a:r>
            <a:r>
              <a:rPr lang="en-US" sz="2400" dirty="0"/>
              <a:t>JPEG</a:t>
            </a:r>
            <a:r>
              <a:rPr lang="uk-UA" sz="2400" dirty="0"/>
              <a:t> та </a:t>
            </a:r>
            <a:r>
              <a:rPr lang="en-US" sz="2400" dirty="0"/>
              <a:t>AVIF</a:t>
            </a:r>
          </a:p>
          <a:p>
            <a:pPr marL="342900" indent="-342900">
              <a:lnSpc>
                <a:spcPct val="150000"/>
              </a:lnSpc>
              <a:buClr>
                <a:srgbClr val="649CBF"/>
              </a:buClr>
              <a:buFont typeface="Wingdings" panose="05000000000000000000" pitchFamily="2" charset="2"/>
              <a:buChar char="§"/>
            </a:pPr>
            <a:r>
              <a:rPr lang="uk-UA" sz="2400" dirty="0"/>
              <a:t>Підтримка</a:t>
            </a:r>
          </a:p>
          <a:p>
            <a:pPr marL="342900" indent="-342900">
              <a:lnSpc>
                <a:spcPct val="150000"/>
              </a:lnSpc>
              <a:buClr>
                <a:srgbClr val="649CBF"/>
              </a:buClr>
              <a:buFont typeface="Wingdings" panose="05000000000000000000" pitchFamily="2" charset="2"/>
              <a:buChar char="§"/>
            </a:pPr>
            <a:r>
              <a:rPr lang="uk-UA" sz="2400" dirty="0"/>
              <a:t>Інструменти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406262132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0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D66495-943A-4890-90A0-B6FB38A620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3720" y="385445"/>
            <a:ext cx="10515600" cy="1325563"/>
          </a:xfrm>
        </p:spPr>
        <p:txBody>
          <a:bodyPr>
            <a:normAutofit/>
          </a:bodyPr>
          <a:lstStyle/>
          <a:p>
            <a:r>
              <a:rPr lang="uk-UA" sz="5400" dirty="0">
                <a:solidFill>
                  <a:srgbClr val="4C7BA7"/>
                </a:solidFill>
              </a:rPr>
              <a:t>Технології в основі </a:t>
            </a:r>
            <a:r>
              <a:rPr lang="en-US" sz="5400" dirty="0">
                <a:solidFill>
                  <a:srgbClr val="4C7BA7"/>
                </a:solidFill>
              </a:rPr>
              <a:t>AVIF</a:t>
            </a:r>
            <a:endParaRPr lang="uk-UA" sz="5400" dirty="0">
              <a:solidFill>
                <a:srgbClr val="4C7BA7"/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DF1B183-C757-48D8-AA19-B9666B772EB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00552" y="2915194"/>
            <a:ext cx="3143250" cy="235267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3D0C38EC-7311-48E4-AB4B-D3FB34A1C8D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3720" y="3215231"/>
            <a:ext cx="3143250" cy="175260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53BF3557-CEC5-40CD-96EF-3BE3491CC364}"/>
              </a:ext>
            </a:extLst>
          </p:cNvPr>
          <p:cNvSpPr txBox="1"/>
          <p:nvPr/>
        </p:nvSpPr>
        <p:spPr>
          <a:xfrm>
            <a:off x="4767578" y="3399035"/>
            <a:ext cx="3143250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b="1" dirty="0">
                <a:solidFill>
                  <a:srgbClr val="4C7BA7"/>
                </a:solidFill>
              </a:rPr>
              <a:t>HEIF</a:t>
            </a:r>
          </a:p>
          <a:p>
            <a:r>
              <a:rPr lang="en-US" sz="2800" b="1" dirty="0">
                <a:solidFill>
                  <a:srgbClr val="4C7BA7"/>
                </a:solidFill>
              </a:rPr>
              <a:t>High Efficiency Image File Format</a:t>
            </a:r>
            <a:endParaRPr lang="uk-UA" sz="2800" dirty="0">
              <a:solidFill>
                <a:srgbClr val="4C7BA7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93B1696-63EA-457E-8226-96C0760012E1}"/>
              </a:ext>
            </a:extLst>
          </p:cNvPr>
          <p:cNvSpPr txBox="1"/>
          <p:nvPr/>
        </p:nvSpPr>
        <p:spPr>
          <a:xfrm>
            <a:off x="3985256" y="3690791"/>
            <a:ext cx="32194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4000" dirty="0">
                <a:solidFill>
                  <a:srgbClr val="649CBF"/>
                </a:solidFill>
              </a:rPr>
              <a:t>в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7BDA721-74B8-4EC1-A9FD-107A1B99AE89}"/>
              </a:ext>
            </a:extLst>
          </p:cNvPr>
          <p:cNvSpPr txBox="1"/>
          <p:nvPr/>
        </p:nvSpPr>
        <p:spPr>
          <a:xfrm>
            <a:off x="7788355" y="3690791"/>
            <a:ext cx="32194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rgbClr val="649CBF"/>
                </a:solidFill>
              </a:rPr>
              <a:t>=</a:t>
            </a:r>
            <a:endParaRPr lang="uk-UA" sz="4000" dirty="0">
              <a:solidFill>
                <a:srgbClr val="649CBF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1A84C2A-94E9-4896-A7E4-4FD6553FA2DB}"/>
              </a:ext>
            </a:extLst>
          </p:cNvPr>
          <p:cNvSpPr txBox="1"/>
          <p:nvPr/>
        </p:nvSpPr>
        <p:spPr>
          <a:xfrm>
            <a:off x="554375" y="1585524"/>
            <a:ext cx="525714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dirty="0">
                <a:solidFill>
                  <a:srgbClr val="4C7BA7"/>
                </a:solidFill>
              </a:rPr>
              <a:t>Початковий реліз</a:t>
            </a:r>
            <a:r>
              <a:rPr lang="en-US" dirty="0">
                <a:solidFill>
                  <a:srgbClr val="4C7BA7"/>
                </a:solidFill>
              </a:rPr>
              <a:t>: </a:t>
            </a:r>
            <a:r>
              <a:rPr lang="en-US" b="1" dirty="0">
                <a:solidFill>
                  <a:srgbClr val="649CBF"/>
                </a:solidFill>
              </a:rPr>
              <a:t>28 </a:t>
            </a:r>
            <a:r>
              <a:rPr lang="uk-UA" b="1" dirty="0">
                <a:solidFill>
                  <a:srgbClr val="649CBF"/>
                </a:solidFill>
              </a:rPr>
              <a:t>Березня </a:t>
            </a:r>
            <a:r>
              <a:rPr lang="en-US" b="1" dirty="0">
                <a:solidFill>
                  <a:srgbClr val="649CBF"/>
                </a:solidFill>
              </a:rPr>
              <a:t>2018 (7</a:t>
            </a:r>
            <a:r>
              <a:rPr lang="uk-UA" b="1" dirty="0">
                <a:solidFill>
                  <a:srgbClr val="649CBF"/>
                </a:solidFill>
              </a:rPr>
              <a:t> років тому</a:t>
            </a:r>
            <a:r>
              <a:rPr lang="en-US" b="1" dirty="0">
                <a:solidFill>
                  <a:srgbClr val="649CBF"/>
                </a:solidFill>
              </a:rPr>
              <a:t>)</a:t>
            </a:r>
          </a:p>
          <a:p>
            <a:r>
              <a:rPr lang="uk-UA" dirty="0">
                <a:solidFill>
                  <a:srgbClr val="4C7BA7"/>
                </a:solidFill>
              </a:rPr>
              <a:t>Останній</a:t>
            </a:r>
            <a:r>
              <a:rPr lang="en-US" dirty="0">
                <a:solidFill>
                  <a:srgbClr val="4C7BA7"/>
                </a:solidFill>
              </a:rPr>
              <a:t> </a:t>
            </a:r>
            <a:r>
              <a:rPr lang="uk-UA" dirty="0">
                <a:solidFill>
                  <a:srgbClr val="4C7BA7"/>
                </a:solidFill>
              </a:rPr>
              <a:t>реліз</a:t>
            </a:r>
            <a:r>
              <a:rPr lang="en-US" dirty="0">
                <a:solidFill>
                  <a:srgbClr val="4C7BA7"/>
                </a:solidFill>
              </a:rPr>
              <a:t>: </a:t>
            </a:r>
            <a:r>
              <a:rPr lang="en-US" b="1" dirty="0">
                <a:solidFill>
                  <a:srgbClr val="649CBF"/>
                </a:solidFill>
              </a:rPr>
              <a:t>8 </a:t>
            </a:r>
            <a:r>
              <a:rPr lang="uk-UA" b="1" dirty="0">
                <a:solidFill>
                  <a:srgbClr val="649CBF"/>
                </a:solidFill>
              </a:rPr>
              <a:t>Січня </a:t>
            </a:r>
            <a:r>
              <a:rPr lang="en-US" b="1" dirty="0">
                <a:solidFill>
                  <a:srgbClr val="649CBF"/>
                </a:solidFill>
              </a:rPr>
              <a:t>2019 (6</a:t>
            </a:r>
            <a:r>
              <a:rPr lang="uk-UA" b="1" dirty="0">
                <a:solidFill>
                  <a:srgbClr val="649CBF"/>
                </a:solidFill>
              </a:rPr>
              <a:t> років тому</a:t>
            </a:r>
            <a:r>
              <a:rPr lang="en-US" b="1" dirty="0">
                <a:solidFill>
                  <a:srgbClr val="649CBF"/>
                </a:solidFill>
              </a:rPr>
              <a:t>)</a:t>
            </a:r>
            <a:endParaRPr lang="en-US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B08E5BE-9ABC-4931-AB9D-36E3EEA8FDBB}"/>
              </a:ext>
            </a:extLst>
          </p:cNvPr>
          <p:cNvSpPr txBox="1"/>
          <p:nvPr/>
        </p:nvSpPr>
        <p:spPr>
          <a:xfrm>
            <a:off x="358911" y="6472055"/>
            <a:ext cx="1090521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1400" dirty="0"/>
              <a:t>Інформація і картинки з</a:t>
            </a:r>
            <a:r>
              <a:rPr lang="en-US" sz="1400" dirty="0"/>
              <a:t>: https://en.wikipedia.org/wiki/AV1</a:t>
            </a:r>
            <a:r>
              <a:rPr lang="uk-UA" sz="1400" dirty="0"/>
              <a:t> та </a:t>
            </a:r>
            <a:r>
              <a:rPr lang="en-US" sz="1400" dirty="0"/>
              <a:t>https://uploadcare.com/blog/avif-image-format/</a:t>
            </a:r>
            <a:endParaRPr lang="uk-UA" sz="14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F50202A-70F9-4E2C-BA0F-835B7F30EB31}"/>
              </a:ext>
            </a:extLst>
          </p:cNvPr>
          <p:cNvSpPr txBox="1"/>
          <p:nvPr/>
        </p:nvSpPr>
        <p:spPr>
          <a:xfrm>
            <a:off x="11149781" y="6341806"/>
            <a:ext cx="5940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fld id="{5BBD6B9B-B0DF-4DAF-8DCF-9B69419DEA99}" type="slidenum">
              <a:rPr lang="uk-UA" smtClean="0"/>
              <a:t>3</a:t>
            </a:fld>
            <a:endParaRPr lang="uk-UA" dirty="0"/>
          </a:p>
        </p:txBody>
      </p:sp>
    </p:spTree>
    <p:extLst>
      <p:ext uri="{BB962C8B-B14F-4D97-AF65-F5344CB8AC3E}">
        <p14:creationId xmlns:p14="http://schemas.microsoft.com/office/powerpoint/2010/main" val="398073720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0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5802E896-E61A-4271-BDF1-A3E8648F77E9}"/>
              </a:ext>
            </a:extLst>
          </p:cNvPr>
          <p:cNvSpPr txBox="1">
            <a:spLocks/>
          </p:cNvSpPr>
          <p:nvPr/>
        </p:nvSpPr>
        <p:spPr>
          <a:xfrm>
            <a:off x="553720" y="38544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uk-UA" sz="5400" dirty="0">
                <a:solidFill>
                  <a:srgbClr val="4C7BA7"/>
                </a:solidFill>
              </a:rPr>
              <a:t>Порівняння об’єму файлу </a:t>
            </a:r>
            <a:r>
              <a:rPr lang="en-US" sz="5400" dirty="0">
                <a:solidFill>
                  <a:srgbClr val="4C7BA7"/>
                </a:solidFill>
              </a:rPr>
              <a:t>PNG </a:t>
            </a:r>
            <a:r>
              <a:rPr lang="uk-UA" sz="5400" dirty="0">
                <a:solidFill>
                  <a:srgbClr val="4C7BA7"/>
                </a:solidFill>
              </a:rPr>
              <a:t>та </a:t>
            </a:r>
            <a:r>
              <a:rPr lang="en-US" sz="5400" dirty="0">
                <a:solidFill>
                  <a:srgbClr val="4C7BA7"/>
                </a:solidFill>
              </a:rPr>
              <a:t>AVIF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770BBEE-DA46-475E-828E-D80421DA5719}"/>
              </a:ext>
            </a:extLst>
          </p:cNvPr>
          <p:cNvSpPr txBox="1"/>
          <p:nvPr/>
        </p:nvSpPr>
        <p:spPr>
          <a:xfrm>
            <a:off x="358911" y="6472055"/>
            <a:ext cx="1090521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1400" dirty="0"/>
              <a:t>Картинка з</a:t>
            </a:r>
            <a:r>
              <a:rPr lang="en-US" sz="1400" dirty="0"/>
              <a:t>: https://wallpapersafari.com/w/U6PCaJ</a:t>
            </a:r>
            <a:r>
              <a:rPr lang="uk-UA" sz="1400" dirty="0"/>
              <a:t>, Застосунок</a:t>
            </a:r>
            <a:r>
              <a:rPr lang="en-US" sz="1400" dirty="0"/>
              <a:t>: https://squoosh.app/editor</a:t>
            </a:r>
            <a:endParaRPr lang="uk-UA" sz="1400" dirty="0"/>
          </a:p>
        </p:txBody>
      </p:sp>
      <p:graphicFrame>
        <p:nvGraphicFramePr>
          <p:cNvPr id="9" name="Chart 8">
            <a:extLst>
              <a:ext uri="{FF2B5EF4-FFF2-40B4-BE49-F238E27FC236}">
                <a16:creationId xmlns:a16="http://schemas.microsoft.com/office/drawing/2014/main" id="{C99B96A3-4EA0-41E0-8968-199485493E0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080257752"/>
              </p:ext>
            </p:extLst>
          </p:nvPr>
        </p:nvGraphicFramePr>
        <p:xfrm>
          <a:off x="553720" y="1708963"/>
          <a:ext cx="7852780" cy="44580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pic>
        <p:nvPicPr>
          <p:cNvPr id="12" name="Picture 11">
            <a:extLst>
              <a:ext uri="{FF2B5EF4-FFF2-40B4-BE49-F238E27FC236}">
                <a16:creationId xmlns:a16="http://schemas.microsoft.com/office/drawing/2014/main" id="{F0750B05-8FB5-4921-A5A9-3E2F9D6AE1C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26882" y="1871061"/>
            <a:ext cx="3444227" cy="1935584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C4A03A19-7206-41B9-AA01-14A49E7D74EA}"/>
              </a:ext>
            </a:extLst>
          </p:cNvPr>
          <p:cNvSpPr txBox="1"/>
          <p:nvPr/>
        </p:nvSpPr>
        <p:spPr>
          <a:xfrm>
            <a:off x="10836790" y="3855608"/>
            <a:ext cx="113431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649CBF"/>
                </a:solidFill>
              </a:rPr>
              <a:t>1920x1079</a:t>
            </a:r>
            <a:endParaRPr lang="uk-UA" sz="1600" dirty="0">
              <a:solidFill>
                <a:srgbClr val="649CBF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29A6D2D-B9FC-48D6-9305-C39C4082632D}"/>
              </a:ext>
            </a:extLst>
          </p:cNvPr>
          <p:cNvSpPr txBox="1"/>
          <p:nvPr/>
        </p:nvSpPr>
        <p:spPr>
          <a:xfrm>
            <a:off x="11149781" y="6341806"/>
            <a:ext cx="5940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fld id="{5BBD6B9B-B0DF-4DAF-8DCF-9B69419DEA99}" type="slidenum">
              <a:rPr lang="uk-UA" smtClean="0"/>
              <a:t>4</a:t>
            </a:fld>
            <a:endParaRPr lang="uk-UA" dirty="0"/>
          </a:p>
        </p:txBody>
      </p:sp>
    </p:spTree>
    <p:extLst>
      <p:ext uri="{BB962C8B-B14F-4D97-AF65-F5344CB8AC3E}">
        <p14:creationId xmlns:p14="http://schemas.microsoft.com/office/powerpoint/2010/main" val="108588583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0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5802E896-E61A-4271-BDF1-A3E8648F77E9}"/>
              </a:ext>
            </a:extLst>
          </p:cNvPr>
          <p:cNvSpPr txBox="1">
            <a:spLocks/>
          </p:cNvSpPr>
          <p:nvPr/>
        </p:nvSpPr>
        <p:spPr>
          <a:xfrm>
            <a:off x="553720" y="385445"/>
            <a:ext cx="7136384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uk-UA" sz="5400" dirty="0">
                <a:solidFill>
                  <a:srgbClr val="4C7BA7"/>
                </a:solidFill>
              </a:rPr>
              <a:t>Порівняння об’єму файлу </a:t>
            </a:r>
            <a:r>
              <a:rPr lang="en-US" sz="5400" dirty="0">
                <a:solidFill>
                  <a:srgbClr val="4C7BA7"/>
                </a:solidFill>
              </a:rPr>
              <a:t>JPEG </a:t>
            </a:r>
            <a:r>
              <a:rPr lang="uk-UA" sz="5400" dirty="0">
                <a:solidFill>
                  <a:srgbClr val="4C7BA7"/>
                </a:solidFill>
              </a:rPr>
              <a:t>та </a:t>
            </a:r>
            <a:r>
              <a:rPr lang="en-US" sz="5400" dirty="0">
                <a:solidFill>
                  <a:srgbClr val="4C7BA7"/>
                </a:solidFill>
              </a:rPr>
              <a:t>AVIF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770BBEE-DA46-475E-828E-D80421DA5719}"/>
              </a:ext>
            </a:extLst>
          </p:cNvPr>
          <p:cNvSpPr txBox="1"/>
          <p:nvPr/>
        </p:nvSpPr>
        <p:spPr>
          <a:xfrm>
            <a:off x="358911" y="6472055"/>
            <a:ext cx="1090521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1400" dirty="0"/>
              <a:t>Картинка з</a:t>
            </a:r>
            <a:r>
              <a:rPr lang="en-US" sz="1400" dirty="0"/>
              <a:t>: https://topdogfilmfestival.com.au/the-science-behind-why-dogs-are-so-cute/</a:t>
            </a:r>
            <a:r>
              <a:rPr lang="uk-UA" sz="1400" dirty="0"/>
              <a:t>, Застосунок</a:t>
            </a:r>
            <a:r>
              <a:rPr lang="en-US" sz="1400" dirty="0"/>
              <a:t>: https://squoosh.app/editor</a:t>
            </a:r>
            <a:endParaRPr lang="uk-UA" sz="1400" dirty="0"/>
          </a:p>
        </p:txBody>
      </p:sp>
      <p:graphicFrame>
        <p:nvGraphicFramePr>
          <p:cNvPr id="9" name="Chart 8">
            <a:extLst>
              <a:ext uri="{FF2B5EF4-FFF2-40B4-BE49-F238E27FC236}">
                <a16:creationId xmlns:a16="http://schemas.microsoft.com/office/drawing/2014/main" id="{C99B96A3-4EA0-41E0-8968-199485493E0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685363181"/>
              </p:ext>
            </p:extLst>
          </p:nvPr>
        </p:nvGraphicFramePr>
        <p:xfrm>
          <a:off x="553720" y="1708963"/>
          <a:ext cx="7852780" cy="44580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C4A03A19-7206-41B9-AA01-14A49E7D74EA}"/>
              </a:ext>
            </a:extLst>
          </p:cNvPr>
          <p:cNvSpPr txBox="1"/>
          <p:nvPr/>
        </p:nvSpPr>
        <p:spPr>
          <a:xfrm>
            <a:off x="10623795" y="3686331"/>
            <a:ext cx="113431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649CBF"/>
                </a:solidFill>
              </a:rPr>
              <a:t>1536x1086</a:t>
            </a:r>
            <a:endParaRPr lang="uk-UA" sz="1600" dirty="0">
              <a:solidFill>
                <a:srgbClr val="649CBF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8B56BBE-3B8B-4FBA-80EF-0B6B45E3398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06500" y="1180880"/>
            <a:ext cx="3351614" cy="236969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DA224583-0E0B-416A-A588-4CA39BD2EC59}"/>
              </a:ext>
            </a:extLst>
          </p:cNvPr>
          <p:cNvSpPr txBox="1"/>
          <p:nvPr/>
        </p:nvSpPr>
        <p:spPr>
          <a:xfrm>
            <a:off x="11149781" y="6341806"/>
            <a:ext cx="5940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fld id="{5BBD6B9B-B0DF-4DAF-8DCF-9B69419DEA99}" type="slidenum">
              <a:rPr lang="uk-UA" smtClean="0"/>
              <a:t>5</a:t>
            </a:fld>
            <a:endParaRPr lang="uk-UA" dirty="0"/>
          </a:p>
        </p:txBody>
      </p:sp>
    </p:spTree>
    <p:extLst>
      <p:ext uri="{BB962C8B-B14F-4D97-AF65-F5344CB8AC3E}">
        <p14:creationId xmlns:p14="http://schemas.microsoft.com/office/powerpoint/2010/main" val="4776336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0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AEF9CC87-4B82-409B-91F6-A35EFEA53A30}"/>
              </a:ext>
            </a:extLst>
          </p:cNvPr>
          <p:cNvSpPr txBox="1">
            <a:spLocks/>
          </p:cNvSpPr>
          <p:nvPr/>
        </p:nvSpPr>
        <p:spPr>
          <a:xfrm>
            <a:off x="544663" y="331206"/>
            <a:ext cx="11199139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uk-UA" sz="4000" dirty="0">
                <a:solidFill>
                  <a:srgbClr val="4C7BA7"/>
                </a:solidFill>
              </a:rPr>
              <a:t>Порівняння якості зображення </a:t>
            </a:r>
            <a:r>
              <a:rPr lang="en-US" sz="4000" dirty="0">
                <a:solidFill>
                  <a:srgbClr val="4C7BA7"/>
                </a:solidFill>
              </a:rPr>
              <a:t>JPEG </a:t>
            </a:r>
            <a:r>
              <a:rPr lang="uk-UA" sz="4000" dirty="0">
                <a:solidFill>
                  <a:srgbClr val="4C7BA7"/>
                </a:solidFill>
              </a:rPr>
              <a:t>та </a:t>
            </a:r>
            <a:r>
              <a:rPr lang="en-US" sz="4000" dirty="0">
                <a:solidFill>
                  <a:srgbClr val="4C7BA7"/>
                </a:solidFill>
              </a:rPr>
              <a:t>AVIF</a:t>
            </a:r>
          </a:p>
          <a:p>
            <a:endParaRPr lang="uk-UA" sz="4000" dirty="0">
              <a:solidFill>
                <a:srgbClr val="4C7BA7"/>
              </a:solidFill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FCE9656C-A7A8-4619-BBF4-7B7639DC6D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2026" y="1383334"/>
            <a:ext cx="5192361" cy="3665864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8726AF34-3CB8-4035-9AD3-375CB2E0A4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7492" y="1383334"/>
            <a:ext cx="5152482" cy="3665864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71423C67-30D1-49D7-95F6-67F6C6F7465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15034" y="3901173"/>
            <a:ext cx="3424804" cy="2296050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53B2B656-38E5-4E1E-8FB4-95A46617427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39838" y="3901173"/>
            <a:ext cx="3357905" cy="229605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E1BD29E3-0BD4-4B37-A024-9A014C789DBC}"/>
              </a:ext>
            </a:extLst>
          </p:cNvPr>
          <p:cNvSpPr txBox="1"/>
          <p:nvPr/>
        </p:nvSpPr>
        <p:spPr>
          <a:xfrm>
            <a:off x="11149781" y="6341806"/>
            <a:ext cx="5940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fld id="{5BBD6B9B-B0DF-4DAF-8DCF-9B69419DEA99}" type="slidenum">
              <a:rPr lang="uk-UA" smtClean="0"/>
              <a:t>6</a:t>
            </a:fld>
            <a:endParaRPr lang="uk-UA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49DC2C8-F6C5-4460-8109-6A1A86774E06}"/>
              </a:ext>
            </a:extLst>
          </p:cNvPr>
          <p:cNvSpPr txBox="1"/>
          <p:nvPr/>
        </p:nvSpPr>
        <p:spPr>
          <a:xfrm>
            <a:off x="358911" y="6472055"/>
            <a:ext cx="1090521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1400" dirty="0"/>
              <a:t>Картинка з</a:t>
            </a:r>
            <a:r>
              <a:rPr lang="en-US" sz="1400" dirty="0"/>
              <a:t>: https://topdogfilmfestival.com.au/the-science-behind-why-dogs-are-so-cute/</a:t>
            </a:r>
            <a:r>
              <a:rPr lang="uk-UA" sz="1400" dirty="0"/>
              <a:t>, Застосунок</a:t>
            </a:r>
            <a:r>
              <a:rPr lang="en-US" sz="1400" dirty="0"/>
              <a:t>: https://squoosh.app/editor</a:t>
            </a:r>
            <a:endParaRPr lang="uk-UA" sz="14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9F060EC-3B11-4ED0-9D4F-DCA080525B36}"/>
              </a:ext>
            </a:extLst>
          </p:cNvPr>
          <p:cNvSpPr txBox="1"/>
          <p:nvPr/>
        </p:nvSpPr>
        <p:spPr>
          <a:xfrm>
            <a:off x="10028865" y="5324030"/>
            <a:ext cx="7199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AVIF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B1EAF0C-AF4D-446D-BFA1-7C252EF6070F}"/>
              </a:ext>
            </a:extLst>
          </p:cNvPr>
          <p:cNvSpPr txBox="1"/>
          <p:nvPr/>
        </p:nvSpPr>
        <p:spPr>
          <a:xfrm>
            <a:off x="1253537" y="5324030"/>
            <a:ext cx="7199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JPG</a:t>
            </a:r>
          </a:p>
        </p:txBody>
      </p:sp>
    </p:spTree>
    <p:extLst>
      <p:ext uri="{BB962C8B-B14F-4D97-AF65-F5344CB8AC3E}">
        <p14:creationId xmlns:p14="http://schemas.microsoft.com/office/powerpoint/2010/main" val="384748850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0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E85215B4-7E8E-4A68-8A7F-3177AB4C6340}"/>
              </a:ext>
            </a:extLst>
          </p:cNvPr>
          <p:cNvSpPr txBox="1">
            <a:spLocks/>
          </p:cNvSpPr>
          <p:nvPr/>
        </p:nvSpPr>
        <p:spPr>
          <a:xfrm>
            <a:off x="599527" y="57771"/>
            <a:ext cx="89004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uk-UA" sz="5400" dirty="0">
                <a:solidFill>
                  <a:srgbClr val="4C7BA7"/>
                </a:solidFill>
              </a:rPr>
              <a:t>Підтримка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EA6415E-CECA-4F57-89A2-C60F5F4F76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7069" y="1459762"/>
            <a:ext cx="9113520" cy="2040101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0F6F1063-C607-4723-9122-7BC309E01C33}"/>
              </a:ext>
            </a:extLst>
          </p:cNvPr>
          <p:cNvSpPr txBox="1"/>
          <p:nvPr/>
        </p:nvSpPr>
        <p:spPr>
          <a:xfrm>
            <a:off x="599527" y="3943880"/>
            <a:ext cx="4063913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Adobe Photoshop – </a:t>
            </a:r>
            <a:r>
              <a:rPr lang="uk-UA" dirty="0"/>
              <a:t>Червень</a:t>
            </a:r>
            <a:r>
              <a:rPr lang="en-US" dirty="0"/>
              <a:t> 2025</a:t>
            </a:r>
          </a:p>
          <a:p>
            <a:r>
              <a:rPr lang="en-US" dirty="0"/>
              <a:t>Adobe </a:t>
            </a:r>
            <a:r>
              <a:rPr lang="en-US" dirty="0" err="1"/>
              <a:t>Illustator</a:t>
            </a:r>
            <a:r>
              <a:rPr lang="en-US" dirty="0"/>
              <a:t> – </a:t>
            </a:r>
            <a:r>
              <a:rPr lang="uk-UA" dirty="0"/>
              <a:t>Травень 2022</a:t>
            </a:r>
            <a:endParaRPr lang="en-US" dirty="0"/>
          </a:p>
          <a:p>
            <a:r>
              <a:rPr lang="en-US" dirty="0"/>
              <a:t>GIMP –</a:t>
            </a:r>
            <a:r>
              <a:rPr lang="uk-UA" dirty="0"/>
              <a:t> Жовтень </a:t>
            </a:r>
            <a:r>
              <a:rPr lang="en-US" dirty="0"/>
              <a:t>2020</a:t>
            </a:r>
          </a:p>
          <a:p>
            <a:r>
              <a:rPr lang="en-US" dirty="0" err="1"/>
              <a:t>FFmpeg</a:t>
            </a:r>
            <a:endParaRPr lang="en-US" dirty="0"/>
          </a:p>
          <a:p>
            <a:r>
              <a:rPr lang="en-US" dirty="0"/>
              <a:t>Windows/Android/Apple/ Linux</a:t>
            </a:r>
            <a:r>
              <a:rPr lang="uk-UA" dirty="0"/>
              <a:t> </a:t>
            </a:r>
            <a:endParaRPr lang="en-US" dirty="0"/>
          </a:p>
          <a:p>
            <a:r>
              <a:rPr lang="en-US" dirty="0"/>
              <a:t>Discord – </a:t>
            </a:r>
            <a:r>
              <a:rPr lang="uk-UA" dirty="0"/>
              <a:t>Березень </a:t>
            </a:r>
            <a:r>
              <a:rPr lang="en-US" dirty="0"/>
              <a:t>2025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2A16E34-2C74-4F08-A904-A19DD2707BAD}"/>
              </a:ext>
            </a:extLst>
          </p:cNvPr>
          <p:cNvSpPr txBox="1"/>
          <p:nvPr/>
        </p:nvSpPr>
        <p:spPr>
          <a:xfrm>
            <a:off x="358911" y="6472055"/>
            <a:ext cx="1090521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1400" dirty="0"/>
              <a:t>Інформація з</a:t>
            </a:r>
            <a:r>
              <a:rPr lang="en-US" sz="1400" dirty="0"/>
              <a:t>: https://en.wikipedia.org/wiki/AV1</a:t>
            </a:r>
            <a:r>
              <a:rPr lang="uk-UA" sz="1400" dirty="0"/>
              <a:t> та </a:t>
            </a:r>
            <a:r>
              <a:rPr lang="en-US" sz="1400" dirty="0"/>
              <a:t>https://caniuse.com/avif</a:t>
            </a:r>
            <a:endParaRPr lang="uk-UA" sz="1400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07274D33-BF5E-468E-98EC-068436D4846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13829" y="3594364"/>
            <a:ext cx="5779347" cy="3059654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CEEDA695-6C6C-46E6-9A8C-A61C41768B07}"/>
              </a:ext>
            </a:extLst>
          </p:cNvPr>
          <p:cNvSpPr txBox="1"/>
          <p:nvPr/>
        </p:nvSpPr>
        <p:spPr>
          <a:xfrm>
            <a:off x="11149781" y="6341806"/>
            <a:ext cx="5940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fld id="{5BBD6B9B-B0DF-4DAF-8DCF-9B69419DEA99}" type="slidenum">
              <a:rPr lang="uk-UA" smtClean="0"/>
              <a:t>7</a:t>
            </a:fld>
            <a:endParaRPr lang="uk-UA" dirty="0"/>
          </a:p>
        </p:txBody>
      </p:sp>
    </p:spTree>
    <p:extLst>
      <p:ext uri="{BB962C8B-B14F-4D97-AF65-F5344CB8AC3E}">
        <p14:creationId xmlns:p14="http://schemas.microsoft.com/office/powerpoint/2010/main" val="28513712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0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E85215B4-7E8E-4A68-8A7F-3177AB4C6340}"/>
              </a:ext>
            </a:extLst>
          </p:cNvPr>
          <p:cNvSpPr txBox="1">
            <a:spLocks/>
          </p:cNvSpPr>
          <p:nvPr/>
        </p:nvSpPr>
        <p:spPr>
          <a:xfrm>
            <a:off x="599527" y="57771"/>
            <a:ext cx="9535073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uk-UA" sz="5400" dirty="0">
                <a:solidFill>
                  <a:srgbClr val="4C7BA7"/>
                </a:solidFill>
              </a:rPr>
              <a:t>Інструменти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25281679-3B62-4B1D-A989-BF47F1B76AD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7550" y="2188130"/>
            <a:ext cx="3841750" cy="1152525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F0AECC7E-C890-4D0B-973B-1F0C0CC6B1BE}"/>
              </a:ext>
            </a:extLst>
          </p:cNvPr>
          <p:cNvSpPr txBox="1"/>
          <p:nvPr/>
        </p:nvSpPr>
        <p:spPr>
          <a:xfrm>
            <a:off x="599526" y="3669268"/>
            <a:ext cx="3527973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uk-UA" dirty="0"/>
              <a:t>https://squoosh.app</a:t>
            </a:r>
            <a:br>
              <a:rPr lang="en-US" dirty="0"/>
            </a:br>
            <a:br>
              <a:rPr lang="en-US" dirty="0"/>
            </a:br>
            <a:r>
              <a:rPr lang="en-US" dirty="0"/>
              <a:t>https://github.com/GoogleChromeLabs/squoosh</a:t>
            </a:r>
            <a:endParaRPr lang="uk-UA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1D58B097-B6F4-4912-9616-BC5F40E58B0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32702" y="2221572"/>
            <a:ext cx="3194050" cy="1119083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0044ABCA-08D1-4FE2-9531-5AED6A38BC00}"/>
              </a:ext>
            </a:extLst>
          </p:cNvPr>
          <p:cNvSpPr txBox="1"/>
          <p:nvPr/>
        </p:nvSpPr>
        <p:spPr>
          <a:xfrm>
            <a:off x="8024815" y="3669268"/>
            <a:ext cx="280193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uk-UA" dirty="0"/>
              <a:t>https://imageengine.io</a:t>
            </a:r>
            <a:endParaRPr lang="en-US" dirty="0"/>
          </a:p>
          <a:p>
            <a:r>
              <a:rPr lang="en-US" dirty="0"/>
              <a:t>https://github.com/imgeng</a:t>
            </a:r>
            <a:endParaRPr lang="uk-UA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16A87B98-F9DE-493C-BFDA-BC93A006E56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19662" y="3669268"/>
            <a:ext cx="1533525" cy="1533525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FD5BB9A1-E38A-45C6-97BA-4722CB982B7E}"/>
              </a:ext>
            </a:extLst>
          </p:cNvPr>
          <p:cNvSpPr txBox="1"/>
          <p:nvPr/>
        </p:nvSpPr>
        <p:spPr>
          <a:xfrm>
            <a:off x="4019551" y="5371624"/>
            <a:ext cx="376237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uk-UA" dirty="0"/>
              <a:t>https://github.com/SalOne22/rimage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267EC4F-763A-43CF-83BC-42A89218F2ED}"/>
              </a:ext>
            </a:extLst>
          </p:cNvPr>
          <p:cNvSpPr txBox="1"/>
          <p:nvPr/>
        </p:nvSpPr>
        <p:spPr>
          <a:xfrm>
            <a:off x="11149781" y="6341806"/>
            <a:ext cx="5940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fld id="{5BBD6B9B-B0DF-4DAF-8DCF-9B69419DEA99}" type="slidenum">
              <a:rPr lang="uk-UA" smtClean="0"/>
              <a:t>8</a:t>
            </a:fld>
            <a:endParaRPr lang="uk-UA" dirty="0"/>
          </a:p>
        </p:txBody>
      </p:sp>
    </p:spTree>
    <p:extLst>
      <p:ext uri="{BB962C8B-B14F-4D97-AF65-F5344CB8AC3E}">
        <p14:creationId xmlns:p14="http://schemas.microsoft.com/office/powerpoint/2010/main" val="404143423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0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37AE4C8D-752C-408C-BE77-6ABBC7525BA0}"/>
              </a:ext>
            </a:extLst>
          </p:cNvPr>
          <p:cNvSpPr txBox="1">
            <a:spLocks/>
          </p:cNvSpPr>
          <p:nvPr/>
        </p:nvSpPr>
        <p:spPr>
          <a:xfrm>
            <a:off x="599527" y="57771"/>
            <a:ext cx="9535073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uk-UA" sz="5400" dirty="0">
                <a:solidFill>
                  <a:srgbClr val="4C7BA7"/>
                </a:solidFill>
              </a:rPr>
              <a:t>Висновки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3C887FD-390C-4404-9E76-E04CEF665538}"/>
              </a:ext>
            </a:extLst>
          </p:cNvPr>
          <p:cNvSpPr txBox="1"/>
          <p:nvPr/>
        </p:nvSpPr>
        <p:spPr>
          <a:xfrm>
            <a:off x="932902" y="1946706"/>
            <a:ext cx="920169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uk-UA" dirty="0"/>
              <a:t>Формат </a:t>
            </a:r>
            <a:r>
              <a:rPr lang="en-US" dirty="0"/>
              <a:t>AVIF</a:t>
            </a:r>
            <a:r>
              <a:rPr lang="uk-UA" dirty="0"/>
              <a:t> є сучасним та потужним форматом для зберігання зображень і передачі їх через інтернет, який був створений на вимогу великих компаній</a:t>
            </a:r>
          </a:p>
          <a:p>
            <a:endParaRPr lang="uk-UA" dirty="0"/>
          </a:p>
          <a:p>
            <a:r>
              <a:rPr lang="uk-UA" dirty="0"/>
              <a:t>З його використанням в середньому ми можемо зменшити розмір файлу зображення до 5-ти разів в порівнянні з </a:t>
            </a:r>
            <a:r>
              <a:rPr lang="en-US" dirty="0"/>
              <a:t>JPEG</a:t>
            </a:r>
            <a:r>
              <a:rPr lang="uk-UA" dirty="0"/>
              <a:t> та до трьох разів в порівнянні з </a:t>
            </a:r>
            <a:r>
              <a:rPr lang="en-US" dirty="0"/>
              <a:t>WEBP</a:t>
            </a:r>
            <a:r>
              <a:rPr lang="uk-UA" dirty="0"/>
              <a:t> без видимої, або з мінімальною втратою якості</a:t>
            </a:r>
          </a:p>
          <a:p>
            <a:endParaRPr lang="uk-UA" dirty="0"/>
          </a:p>
          <a:p>
            <a:r>
              <a:rPr lang="uk-UA" dirty="0"/>
              <a:t>Це дозволяє нам робити </a:t>
            </a:r>
            <a:r>
              <a:rPr lang="uk-UA" dirty="0" err="1"/>
              <a:t>легковісні</a:t>
            </a:r>
            <a:r>
              <a:rPr lang="uk-UA" dirty="0"/>
              <a:t> програми, а при розробці </a:t>
            </a:r>
            <a:r>
              <a:rPr lang="uk-UA" dirty="0" err="1"/>
              <a:t>вебсайтів</a:t>
            </a:r>
            <a:r>
              <a:rPr lang="uk-UA" dirty="0"/>
              <a:t> дозволяє зекономити трафік, зробити кращим </a:t>
            </a:r>
            <a:r>
              <a:rPr lang="en-US" dirty="0"/>
              <a:t>SEO</a:t>
            </a:r>
            <a:r>
              <a:rPr lang="uk-UA" dirty="0"/>
              <a:t> за рахунок швидкого показу інформації користувачам</a:t>
            </a:r>
          </a:p>
          <a:p>
            <a:endParaRPr lang="uk-UA" dirty="0"/>
          </a:p>
          <a:p>
            <a:r>
              <a:rPr lang="en-US" dirty="0"/>
              <a:t>AVIF</a:t>
            </a:r>
            <a:r>
              <a:rPr lang="uk-UA" dirty="0"/>
              <a:t> має свої недоліки, наприклад не ідеальну, але дуже гарну, якість та не ідеальну підтримку оскільки формат є дуже новим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DFDD11D-B63D-49E6-8AC0-ECD505A1F48C}"/>
              </a:ext>
            </a:extLst>
          </p:cNvPr>
          <p:cNvSpPr txBox="1"/>
          <p:nvPr/>
        </p:nvSpPr>
        <p:spPr>
          <a:xfrm>
            <a:off x="11149781" y="6341806"/>
            <a:ext cx="5940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fld id="{5BBD6B9B-B0DF-4DAF-8DCF-9B69419DEA99}" type="slidenum">
              <a:rPr lang="uk-UA" smtClean="0"/>
              <a:t>9</a:t>
            </a:fld>
            <a:endParaRPr lang="uk-UA" dirty="0"/>
          </a:p>
        </p:txBody>
      </p:sp>
    </p:spTree>
    <p:extLst>
      <p:ext uri="{BB962C8B-B14F-4D97-AF65-F5344CB8AC3E}">
        <p14:creationId xmlns:p14="http://schemas.microsoft.com/office/powerpoint/2010/main" val="35442393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0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37AE4C8D-752C-408C-BE77-6ABBC7525BA0}"/>
              </a:ext>
            </a:extLst>
          </p:cNvPr>
          <p:cNvSpPr txBox="1">
            <a:spLocks/>
          </p:cNvSpPr>
          <p:nvPr/>
        </p:nvSpPr>
        <p:spPr>
          <a:xfrm>
            <a:off x="599527" y="57771"/>
            <a:ext cx="9535073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uk-UA" sz="5400" dirty="0">
                <a:solidFill>
                  <a:srgbClr val="4C7BA7"/>
                </a:solidFill>
              </a:rPr>
              <a:t>Використані матеріали та джерела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3C887FD-390C-4404-9E76-E04CEF665538}"/>
              </a:ext>
            </a:extLst>
          </p:cNvPr>
          <p:cNvSpPr txBox="1"/>
          <p:nvPr/>
        </p:nvSpPr>
        <p:spPr>
          <a:xfrm>
            <a:off x="513532" y="1722806"/>
            <a:ext cx="10636249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uk-UA" dirty="0"/>
              <a:t>Інформацію було взято з</a:t>
            </a:r>
            <a:r>
              <a:rPr lang="en-US" dirty="0"/>
              <a:t>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hlinkClick r:id="rId2"/>
              </a:rPr>
              <a:t>https://en.wikipedia.org/wiki/AVIF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uk-UA" dirty="0"/>
              <a:t>З блогу </a:t>
            </a:r>
            <a:r>
              <a:rPr lang="en-US" dirty="0"/>
              <a:t>Jake Archibald: </a:t>
            </a:r>
            <a:r>
              <a:rPr lang="en-US" dirty="0">
                <a:hlinkClick r:id="rId3"/>
              </a:rPr>
              <a:t>https://jakearchibald.com/2020/avif-has-landed/</a:t>
            </a:r>
            <a:endParaRPr lang="uk-UA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uk-UA" dirty="0"/>
              <a:t>З блогу </a:t>
            </a:r>
            <a:r>
              <a:rPr lang="en-US" dirty="0"/>
              <a:t>Tim </a:t>
            </a:r>
            <a:r>
              <a:rPr lang="en-US" dirty="0" err="1"/>
              <a:t>Severien</a:t>
            </a:r>
            <a:r>
              <a:rPr lang="en-US" dirty="0"/>
              <a:t>: </a:t>
            </a:r>
            <a:r>
              <a:rPr lang="en-US" dirty="0">
                <a:hlinkClick r:id="rId4"/>
              </a:rPr>
              <a:t>https://tsev.dev/posts/2023-11-10-should-avif-be-the-dominant-image-format/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uk-UA" sz="1800" dirty="0"/>
              <a:t>Стаття від </a:t>
            </a:r>
            <a:r>
              <a:rPr lang="en-US" dirty="0"/>
              <a:t>Trust </a:t>
            </a:r>
            <a:r>
              <a:rPr lang="en-US" dirty="0" err="1"/>
              <a:t>Jamin</a:t>
            </a:r>
            <a:r>
              <a:rPr lang="en-US" dirty="0"/>
              <a:t> </a:t>
            </a:r>
            <a:r>
              <a:rPr lang="en-US" dirty="0" err="1"/>
              <a:t>Okpukoro</a:t>
            </a:r>
            <a:r>
              <a:rPr lang="en-US" dirty="0"/>
              <a:t>:</a:t>
            </a:r>
            <a:r>
              <a:rPr lang="en-US" b="1" dirty="0"/>
              <a:t> </a:t>
            </a:r>
            <a:r>
              <a:rPr lang="en-US" sz="1800" dirty="0">
                <a:hlinkClick r:id="rId5"/>
              </a:rPr>
              <a:t>https://uploadcare.com/blog/avif-image-format/</a:t>
            </a:r>
            <a:endParaRPr lang="en-US" sz="1800" dirty="0"/>
          </a:p>
          <a:p>
            <a:endParaRPr lang="en-US" dirty="0"/>
          </a:p>
          <a:p>
            <a:r>
              <a:rPr lang="uk-UA" dirty="0"/>
              <a:t>Використані зображення для порівняння: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dirty="0">
                <a:hlinkClick r:id="rId6"/>
              </a:rPr>
              <a:t>https://wallpapersafari.com/w/U6PCaJ</a:t>
            </a:r>
            <a:endParaRPr lang="uk-UA" sz="1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dirty="0">
                <a:hlinkClick r:id="rId7"/>
              </a:rPr>
              <a:t>https://topdogfilmfestival.com.au/the-science-behind-why-dogs-are-so-cute/</a:t>
            </a:r>
            <a:endParaRPr lang="en-US" sz="1800" dirty="0"/>
          </a:p>
          <a:p>
            <a:endParaRPr lang="en-US" dirty="0"/>
          </a:p>
          <a:p>
            <a:r>
              <a:rPr lang="uk-UA" dirty="0"/>
              <a:t>Використана програма для переведення файлів в різні формати:</a:t>
            </a:r>
            <a:r>
              <a:rPr lang="en-US" dirty="0"/>
              <a:t> </a:t>
            </a:r>
            <a:r>
              <a:rPr lang="uk-UA" dirty="0">
                <a:hlinkClick r:id="rId8"/>
              </a:rPr>
              <a:t>https://squoosh.app</a:t>
            </a:r>
            <a:endParaRPr lang="uk-UA" dirty="0"/>
          </a:p>
          <a:p>
            <a:r>
              <a:rPr lang="uk-UA" dirty="0"/>
              <a:t>Використано сервіс </a:t>
            </a:r>
            <a:r>
              <a:rPr lang="en-US" dirty="0" err="1"/>
              <a:t>CanIUse</a:t>
            </a:r>
            <a:r>
              <a:rPr lang="uk-UA" dirty="0"/>
              <a:t> для перегляду підтримки формату в різних браузерах: </a:t>
            </a:r>
            <a:r>
              <a:rPr lang="en-US" sz="1800" dirty="0">
                <a:hlinkClick r:id="rId9"/>
              </a:rPr>
              <a:t>https://caniuse.com/avif</a:t>
            </a:r>
            <a:endParaRPr lang="uk-UA" sz="1800" dirty="0"/>
          </a:p>
          <a:p>
            <a:r>
              <a:rPr lang="uk-UA" dirty="0"/>
              <a:t>Використано сервіс </a:t>
            </a:r>
            <a:r>
              <a:rPr lang="en-US" dirty="0" err="1"/>
              <a:t>Carnon</a:t>
            </a:r>
            <a:r>
              <a:rPr lang="uk-UA" dirty="0"/>
              <a:t> для переведення коду в картинку: </a:t>
            </a:r>
            <a:r>
              <a:rPr lang="en-US" dirty="0">
                <a:hlinkClick r:id="rId10"/>
              </a:rPr>
              <a:t>https://carbon.now.sh/</a:t>
            </a:r>
            <a:endParaRPr lang="en-US" dirty="0"/>
          </a:p>
          <a:p>
            <a:r>
              <a:rPr lang="uk-UA" dirty="0"/>
              <a:t>Кольорова схема</a:t>
            </a:r>
            <a:r>
              <a:rPr lang="en-US" dirty="0"/>
              <a:t>: </a:t>
            </a:r>
            <a:r>
              <a:rPr lang="en-US" dirty="0">
                <a:hlinkClick r:id="rId11"/>
              </a:rPr>
              <a:t>https://color.adobe.com</a:t>
            </a:r>
            <a:endParaRPr 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DFDD11D-B63D-49E6-8AC0-ECD505A1F48C}"/>
              </a:ext>
            </a:extLst>
          </p:cNvPr>
          <p:cNvSpPr txBox="1"/>
          <p:nvPr/>
        </p:nvSpPr>
        <p:spPr>
          <a:xfrm>
            <a:off x="11149781" y="6341806"/>
            <a:ext cx="5940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fld id="{5BBD6B9B-B0DF-4DAF-8DCF-9B69419DEA99}" type="slidenum">
              <a:rPr lang="uk-UA" smtClean="0"/>
              <a:t>10</a:t>
            </a:fld>
            <a:endParaRPr lang="uk-UA" dirty="0"/>
          </a:p>
        </p:txBody>
      </p:sp>
    </p:spTree>
    <p:extLst>
      <p:ext uri="{BB962C8B-B14F-4D97-AF65-F5344CB8AC3E}">
        <p14:creationId xmlns:p14="http://schemas.microsoft.com/office/powerpoint/2010/main" val="405110342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0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E85215B4-7E8E-4A68-8A7F-3177AB4C6340}"/>
              </a:ext>
            </a:extLst>
          </p:cNvPr>
          <p:cNvSpPr txBox="1">
            <a:spLocks/>
          </p:cNvSpPr>
          <p:nvPr/>
        </p:nvSpPr>
        <p:spPr>
          <a:xfrm>
            <a:off x="1" y="0"/>
            <a:ext cx="12192000" cy="64198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uk-UA" sz="6600" dirty="0">
                <a:solidFill>
                  <a:srgbClr val="4C7BA7"/>
                </a:solidFill>
              </a:rPr>
              <a:t>Дякую за увагу</a:t>
            </a:r>
          </a:p>
        </p:txBody>
      </p:sp>
    </p:spTree>
    <p:extLst>
      <p:ext uri="{BB962C8B-B14F-4D97-AF65-F5344CB8AC3E}">
        <p14:creationId xmlns:p14="http://schemas.microsoft.com/office/powerpoint/2010/main" val="153477875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399</TotalTime>
  <Words>565</Words>
  <Application>Microsoft Office PowerPoint</Application>
  <PresentationFormat>Widescreen</PresentationFormat>
  <Paragraphs>82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6" baseType="lpstr">
      <vt:lpstr>Arial</vt:lpstr>
      <vt:lpstr>Calibri</vt:lpstr>
      <vt:lpstr>Calibri Light</vt:lpstr>
      <vt:lpstr>Wingdings</vt:lpstr>
      <vt:lpstr>Office Theme</vt:lpstr>
      <vt:lpstr>AV1 Image File Format</vt:lpstr>
      <vt:lpstr>PowerPoint Presentation</vt:lpstr>
      <vt:lpstr>Технології в основі AVIF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AV1 Image File Format</dc:title>
  <dc:creator>Ivan Schedrovskiy</dc:creator>
  <cp:lastModifiedBy>Ivan Schedrovskiy</cp:lastModifiedBy>
  <cp:revision>73</cp:revision>
  <dcterms:created xsi:type="dcterms:W3CDTF">2025-12-09T06:21:37Z</dcterms:created>
  <dcterms:modified xsi:type="dcterms:W3CDTF">2025-12-21T20:58:17Z</dcterms:modified>
</cp:coreProperties>
</file>