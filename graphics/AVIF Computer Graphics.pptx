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van Schedrovskiy" initials="IS" lastIdx="1" clrIdx="0">
    <p:extLst>
      <p:ext uri="{19B8F6BF-5375-455C-9EA6-DF929625EA0E}">
        <p15:presenceInfo xmlns:p15="http://schemas.microsoft.com/office/powerpoint/2012/main" userId="154bcf7994271aa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2"/>
    <a:srgbClr val="649CBF"/>
    <a:srgbClr val="BDE2F2"/>
    <a:srgbClr val="A8D5F2"/>
    <a:srgbClr val="4C7BA7"/>
    <a:srgbClr val="0F403C"/>
    <a:srgbClr val="127368"/>
    <a:srgbClr val="89A6A2"/>
    <a:srgbClr val="BFBFBF"/>
    <a:srgbClr val="4D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02" autoAdjust="0"/>
  </p:normalViewPr>
  <p:slideViewPr>
    <p:cSldViewPr snapToGrid="0">
      <p:cViewPr>
        <p:scale>
          <a:sx n="75" d="100"/>
          <a:sy n="75" d="100"/>
        </p:scale>
        <p:origin x="1914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PNG</c:v>
                </c:pt>
              </c:strCache>
            </c:strRef>
          </c:tx>
          <c:spPr>
            <a:solidFill>
              <a:srgbClr val="BDE2F2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950-4B07-876F-843AA03F1B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  <c:pt idx="0">
                  <c:v>1190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50-4B07-876F-843AA03F1B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MozJPEG</c:v>
                </c:pt>
              </c:strCache>
            </c:strRef>
          </c:tx>
          <c:spPr>
            <a:solidFill>
              <a:srgbClr val="A8D5F2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950-4B07-876F-843AA03F1B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Sheet1!$C$2</c:f>
              <c:numCache>
                <c:formatCode>General</c:formatCode>
                <c:ptCount val="1"/>
                <c:pt idx="0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50-4B07-876F-843AA03F1B8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WebP</c:v>
                </c:pt>
              </c:strCache>
            </c:strRef>
          </c:tx>
          <c:spPr>
            <a:solidFill>
              <a:srgbClr val="649CBF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950-4B07-876F-843AA03F1B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Sheet1!$D$2</c:f>
              <c:numCache>
                <c:formatCode>General</c:formatCode>
                <c:ptCount val="1"/>
                <c:pt idx="0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950-4B07-876F-843AA03F1B8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AVIF</c:v>
                </c:pt>
              </c:strCache>
            </c:strRef>
          </c:tx>
          <c:spPr>
            <a:solidFill>
              <a:srgbClr val="4C7BA7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950-4B07-876F-843AA03F1B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Sheet1!$E$2</c:f>
              <c:numCache>
                <c:formatCode>0.00</c:formatCode>
                <c:ptCount val="1"/>
                <c:pt idx="0">
                  <c:v>27.3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950-4B07-876F-843AA03F1B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63736111"/>
        <c:axId val="1363736943"/>
      </c:barChart>
      <c:catAx>
        <c:axId val="1363736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1363736943"/>
        <c:crosses val="autoZero"/>
        <c:auto val="1"/>
        <c:lblAlgn val="ctr"/>
        <c:lblOffset val="100"/>
        <c:noMultiLvlLbl val="0"/>
      </c:catAx>
      <c:valAx>
        <c:axId val="1363736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kB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uk-UA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13637361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MozJPEG</c:v>
                </c:pt>
              </c:strCache>
            </c:strRef>
          </c:tx>
          <c:spPr>
            <a:solidFill>
              <a:srgbClr val="BDE2F2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950-4B07-876F-843AA03F1B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  <c:pt idx="0">
                  <c:v>453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50-4B07-876F-843AA03F1B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WebP</c:v>
                </c:pt>
              </c:strCache>
            </c:strRef>
          </c:tx>
          <c:spPr>
            <a:solidFill>
              <a:srgbClr val="A8D5F2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950-4B07-876F-843AA03F1B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Sheet1!$C$2</c:f>
              <c:numCache>
                <c:formatCode>General</c:formatCode>
                <c:ptCount val="1"/>
                <c:pt idx="0">
                  <c:v>189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50-4B07-876F-843AA03F1B8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AVIF</c:v>
                </c:pt>
              </c:strCache>
            </c:strRef>
          </c:tx>
          <c:spPr>
            <a:solidFill>
              <a:srgbClr val="649CBF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950-4B07-876F-843AA03F1B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Sheet1!$D$2</c:f>
              <c:numCache>
                <c:formatCode>General</c:formatCode>
                <c:ptCount val="1"/>
                <c:pt idx="0">
                  <c:v>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950-4B07-876F-843AA03F1B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63736111"/>
        <c:axId val="1363736943"/>
      </c:barChart>
      <c:catAx>
        <c:axId val="1363736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1363736943"/>
        <c:crosses val="autoZero"/>
        <c:auto val="1"/>
        <c:lblAlgn val="ctr"/>
        <c:lblOffset val="100"/>
        <c:noMultiLvlLbl val="0"/>
      </c:catAx>
      <c:valAx>
        <c:axId val="1363736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kB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uk-UA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13637361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4D4A4-937B-4DCD-9866-40F522037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67C66-621E-4255-93A7-5A7176227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78DC7-8823-4F81-A98D-6C6C50FA6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44887-F4AB-4580-B051-FF7B91C761A7}" type="datetimeFigureOut">
              <a:rPr lang="uk-UA" smtClean="0"/>
              <a:t>09.12.2025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62504-048A-44B7-91B0-A889A2856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CB3F1-DAB3-4A01-B5C6-884C6D22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BC63-89A1-49D4-919B-6D11ED101A2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63096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300D-431B-4A02-8AD5-0940A9146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2EA57-E849-4A4B-A44D-0A856E56C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BAE2A-D617-4A2A-B00D-C92B8D4C7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44887-F4AB-4580-B051-FF7B91C761A7}" type="datetimeFigureOut">
              <a:rPr lang="uk-UA" smtClean="0"/>
              <a:t>09.12.2025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BF55B-4D64-4849-9369-CBB274F62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6A0FB-AE11-4AFA-BAED-3C01D5EC5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BC63-89A1-49D4-919B-6D11ED101A2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96165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0FB18-8A8D-4D34-8DD5-033E1BB4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00983-68FC-4CB8-B8CB-EB8069745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3E334-719C-4EE0-960B-BA420B0D7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44887-F4AB-4580-B051-FF7B91C761A7}" type="datetimeFigureOut">
              <a:rPr lang="uk-UA" smtClean="0"/>
              <a:t>09.12.2025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F68B2-3AE1-4EF9-B1EB-3F63EA471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1101A-97B8-4CC2-B880-AF109F30F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BC63-89A1-49D4-919B-6D11ED101A2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21430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C88F1-707D-4CC1-A059-B51B0C52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7A689-506D-43FF-AC1C-8534A03658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F7D15-E0C3-4506-B7B8-F0E9ECA9A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A2522-3DEB-4BFD-8D42-2EC915AEA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44887-F4AB-4580-B051-FF7B91C761A7}" type="datetimeFigureOut">
              <a:rPr lang="uk-UA" smtClean="0"/>
              <a:t>09.12.2025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BA39A-1F2D-4AC2-97BF-959EEA2E4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C71F2-27D9-43BA-8571-3CB786116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BC63-89A1-49D4-919B-6D11ED101A2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34261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27AC1-F5A7-48BD-9D9C-324083C9C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F1989-8A77-4794-AC72-474C8BECA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B0A70-EF2F-4F05-86BE-8EF214F80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B019DA-7979-4E84-8711-D01F884CF3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40D024-5386-4B0B-94D2-18A380A32C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862AD2-53F3-4928-AE91-A3A2486BB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44887-F4AB-4580-B051-FF7B91C761A7}" type="datetimeFigureOut">
              <a:rPr lang="uk-UA" smtClean="0"/>
              <a:t>09.12.2025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C5A3EC-583D-48CA-BBEA-0ED25641E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6A93F2-6CFF-43E8-B3D5-7D1D33244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BC63-89A1-49D4-919B-6D11ED101A2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07387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D212D-17A5-4990-A368-54D2EDA28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2F29C4-4ECF-4BFD-AEC4-7E68B1F3B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44887-F4AB-4580-B051-FF7B91C761A7}" type="datetimeFigureOut">
              <a:rPr lang="uk-UA" smtClean="0"/>
              <a:t>09.12.2025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6ED74-65C9-4F0B-92A4-0FC15E779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6A605-E5E9-4886-9F5B-23E123320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BC63-89A1-49D4-919B-6D11ED101A2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58965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3B9DAA-60BA-4D29-9E8A-DA58A83F8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44887-F4AB-4580-B051-FF7B91C761A7}" type="datetimeFigureOut">
              <a:rPr lang="uk-UA" smtClean="0"/>
              <a:t>09.12.2025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41B7E2-DB78-417A-B8C4-69F0F972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8FA1F-EE7D-42C3-B035-DBFCBECA0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BC63-89A1-49D4-919B-6D11ED101A2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4271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94BAF-DB66-43F7-AB44-40A3E8C71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1268-4237-43E2-A4F3-D4361E510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0FAEBD-5635-433D-BADD-A3CBBAAF3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FB32E-B2F1-4121-8DC0-BECDA7BF1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44887-F4AB-4580-B051-FF7B91C761A7}" type="datetimeFigureOut">
              <a:rPr lang="uk-UA" smtClean="0"/>
              <a:t>09.12.2025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B178B-1885-479D-AF10-A7F78F78D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EE376-1945-41A7-AF41-FC58FED54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BC63-89A1-49D4-919B-6D11ED101A2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59064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226B2-6F8C-4428-9105-927FCE5E0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F54F5C-6906-477F-B2D7-BC48F2D27A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025A54-DF68-4C3A-B13B-E59CE1A72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FE019-C62A-47FA-8BF5-759973281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44887-F4AB-4580-B051-FF7B91C761A7}" type="datetimeFigureOut">
              <a:rPr lang="uk-UA" smtClean="0"/>
              <a:t>09.12.2025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7815C-EEB6-4D98-BF86-68235E267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7D756-72D1-4AB6-B740-91723A7AE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BC63-89A1-49D4-919B-6D11ED101A2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04694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0B978-4911-4AC4-918F-57FC06130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C9497C-BBF9-4413-B93C-E6ED41719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49471-4E00-40CF-9F26-5687B6169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44887-F4AB-4580-B051-FF7B91C761A7}" type="datetimeFigureOut">
              <a:rPr lang="uk-UA" smtClean="0"/>
              <a:t>09.12.2025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02B3A-6D83-4F83-8975-CB8025FFD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EFBBD-6299-4F74-9DAA-FE98ADB23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BC63-89A1-49D4-919B-6D11ED101A2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73315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4339D0-2006-4073-A22C-144D501314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4B960-6E98-4ECF-A9BD-8ED5C628F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CF839-1B93-4311-BEE6-C7D4017CB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44887-F4AB-4580-B051-FF7B91C761A7}" type="datetimeFigureOut">
              <a:rPr lang="uk-UA" smtClean="0"/>
              <a:t>09.12.2025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D20E4-04C3-4397-A60E-6182AE833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FF493-93F8-4535-AEBE-A3FB190B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BC63-89A1-49D4-919B-6D11ED101A2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36774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3EF388-FF9C-49BC-84C9-C822BDE64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E3BC6-0144-4722-B8F3-D553A97BC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AE16B-E183-492B-9D89-419A231DDA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44887-F4AB-4580-B051-FF7B91C761A7}" type="datetimeFigureOut">
              <a:rPr lang="uk-UA" smtClean="0"/>
              <a:t>09.12.2025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A9846-2B2C-4DFC-A5BC-22C567041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F41A5-F967-49FB-8E5A-64B5D8FF9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9BC63-89A1-49D4-919B-6D11ED101A2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96465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0BD07-0D69-4C5A-BDBC-1CCD4BE85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720" y="1041400"/>
            <a:ext cx="9814560" cy="2387600"/>
          </a:xfrm>
        </p:spPr>
        <p:txBody>
          <a:bodyPr/>
          <a:lstStyle/>
          <a:p>
            <a:r>
              <a:rPr lang="en-US" dirty="0">
                <a:solidFill>
                  <a:srgbClr val="4C7BA7"/>
                </a:solidFill>
                <a:latin typeface="+mn-lt"/>
              </a:rPr>
              <a:t>AV1 Image File Format</a:t>
            </a:r>
            <a:endParaRPr lang="uk-UA" dirty="0">
              <a:solidFill>
                <a:srgbClr val="4C7BA7"/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50C940-5ACB-44B1-97DE-FA0F4C2C8D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>
                <a:solidFill>
                  <a:srgbClr val="649CBF"/>
                </a:solidFill>
              </a:rPr>
              <a:t>Виконав </a:t>
            </a:r>
            <a:r>
              <a:rPr lang="uk-UA" dirty="0" err="1">
                <a:solidFill>
                  <a:srgbClr val="649CBF"/>
                </a:solidFill>
              </a:rPr>
              <a:t>Щедровський</a:t>
            </a:r>
            <a:r>
              <a:rPr lang="uk-UA" dirty="0">
                <a:solidFill>
                  <a:srgbClr val="649CBF"/>
                </a:solidFill>
              </a:rPr>
              <a:t> Іван КНТ-113сп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C6F68E-FC0A-4F7C-B39C-2FCD846447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58154" y="-203982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701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6495-943A-4890-90A0-B6FB38A62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720" y="385445"/>
            <a:ext cx="10515600" cy="1325563"/>
          </a:xfrm>
        </p:spPr>
        <p:txBody>
          <a:bodyPr>
            <a:normAutofit/>
          </a:bodyPr>
          <a:lstStyle/>
          <a:p>
            <a:r>
              <a:rPr lang="uk-UA" sz="5400" dirty="0">
                <a:solidFill>
                  <a:srgbClr val="4C7BA7"/>
                </a:solidFill>
              </a:rPr>
              <a:t>Що воно таке?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F1B183-C757-48D8-AA19-B9666B772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0552" y="2915194"/>
            <a:ext cx="3143250" cy="2352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0C38EC-7311-48E4-AB4B-D3FB34A1C8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20" y="3215231"/>
            <a:ext cx="3143250" cy="1752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3BF3557-CEC5-40CD-96EF-3BE3491CC364}"/>
              </a:ext>
            </a:extLst>
          </p:cNvPr>
          <p:cNvSpPr txBox="1"/>
          <p:nvPr/>
        </p:nvSpPr>
        <p:spPr>
          <a:xfrm>
            <a:off x="4767578" y="3399035"/>
            <a:ext cx="31432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4C7BA7"/>
                </a:solidFill>
              </a:rPr>
              <a:t>HEIF</a:t>
            </a:r>
          </a:p>
          <a:p>
            <a:r>
              <a:rPr lang="en-US" sz="2800" b="1" dirty="0">
                <a:solidFill>
                  <a:srgbClr val="4C7BA7"/>
                </a:solidFill>
              </a:rPr>
              <a:t>High Efficiency Image File Format</a:t>
            </a:r>
            <a:endParaRPr lang="uk-UA" sz="2800" dirty="0">
              <a:solidFill>
                <a:srgbClr val="4C7BA7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3B1696-63EA-457E-8226-96C0760012E1}"/>
              </a:ext>
            </a:extLst>
          </p:cNvPr>
          <p:cNvSpPr txBox="1"/>
          <p:nvPr/>
        </p:nvSpPr>
        <p:spPr>
          <a:xfrm>
            <a:off x="3985256" y="3690791"/>
            <a:ext cx="321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000" dirty="0">
                <a:solidFill>
                  <a:srgbClr val="649CBF"/>
                </a:solidFill>
              </a:rPr>
              <a:t>в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BDA721-74B8-4EC1-A9FD-107A1B99AE89}"/>
              </a:ext>
            </a:extLst>
          </p:cNvPr>
          <p:cNvSpPr txBox="1"/>
          <p:nvPr/>
        </p:nvSpPr>
        <p:spPr>
          <a:xfrm>
            <a:off x="7788355" y="3690791"/>
            <a:ext cx="321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649CBF"/>
                </a:solidFill>
              </a:rPr>
              <a:t>=</a:t>
            </a:r>
            <a:endParaRPr lang="uk-UA" sz="4000" dirty="0">
              <a:solidFill>
                <a:srgbClr val="649CB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A84C2A-94E9-4896-A7E4-4FD6553FA2DB}"/>
              </a:ext>
            </a:extLst>
          </p:cNvPr>
          <p:cNvSpPr txBox="1"/>
          <p:nvPr/>
        </p:nvSpPr>
        <p:spPr>
          <a:xfrm>
            <a:off x="553719" y="1470993"/>
            <a:ext cx="52571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4C7BA7"/>
                </a:solidFill>
              </a:rPr>
              <a:t>Початковий реліз</a:t>
            </a:r>
            <a:r>
              <a:rPr lang="en-US" dirty="0">
                <a:solidFill>
                  <a:srgbClr val="4C7BA7"/>
                </a:solidFill>
              </a:rPr>
              <a:t>: </a:t>
            </a:r>
            <a:r>
              <a:rPr lang="en-US" b="1" dirty="0">
                <a:solidFill>
                  <a:srgbClr val="649CBF"/>
                </a:solidFill>
              </a:rPr>
              <a:t>28 </a:t>
            </a:r>
            <a:r>
              <a:rPr lang="uk-UA" b="1" dirty="0">
                <a:solidFill>
                  <a:srgbClr val="649CBF"/>
                </a:solidFill>
              </a:rPr>
              <a:t>Березня </a:t>
            </a:r>
            <a:r>
              <a:rPr lang="en-US" b="1" dirty="0">
                <a:solidFill>
                  <a:srgbClr val="649CBF"/>
                </a:solidFill>
              </a:rPr>
              <a:t>2018 (7</a:t>
            </a:r>
            <a:r>
              <a:rPr lang="uk-UA" b="1" dirty="0">
                <a:solidFill>
                  <a:srgbClr val="649CBF"/>
                </a:solidFill>
              </a:rPr>
              <a:t> років тому</a:t>
            </a:r>
            <a:r>
              <a:rPr lang="en-US" b="1" dirty="0">
                <a:solidFill>
                  <a:srgbClr val="649CBF"/>
                </a:solidFill>
              </a:rPr>
              <a:t>)</a:t>
            </a:r>
          </a:p>
          <a:p>
            <a:r>
              <a:rPr lang="uk-UA" dirty="0">
                <a:solidFill>
                  <a:srgbClr val="4C7BA7"/>
                </a:solidFill>
              </a:rPr>
              <a:t>Останній</a:t>
            </a:r>
            <a:r>
              <a:rPr lang="en-US" dirty="0">
                <a:solidFill>
                  <a:srgbClr val="4C7BA7"/>
                </a:solidFill>
              </a:rPr>
              <a:t> </a:t>
            </a:r>
            <a:r>
              <a:rPr lang="uk-UA" dirty="0">
                <a:solidFill>
                  <a:srgbClr val="4C7BA7"/>
                </a:solidFill>
              </a:rPr>
              <a:t>реліз</a:t>
            </a:r>
            <a:r>
              <a:rPr lang="en-US" dirty="0">
                <a:solidFill>
                  <a:srgbClr val="4C7BA7"/>
                </a:solidFill>
              </a:rPr>
              <a:t>: </a:t>
            </a:r>
            <a:r>
              <a:rPr lang="en-US" b="1" dirty="0">
                <a:solidFill>
                  <a:srgbClr val="649CBF"/>
                </a:solidFill>
              </a:rPr>
              <a:t>8 </a:t>
            </a:r>
            <a:r>
              <a:rPr lang="uk-UA" b="1" dirty="0">
                <a:solidFill>
                  <a:srgbClr val="649CBF"/>
                </a:solidFill>
              </a:rPr>
              <a:t>Січня </a:t>
            </a:r>
            <a:r>
              <a:rPr lang="en-US" b="1" dirty="0">
                <a:solidFill>
                  <a:srgbClr val="649CBF"/>
                </a:solidFill>
              </a:rPr>
              <a:t>2019 (6</a:t>
            </a:r>
            <a:r>
              <a:rPr lang="uk-UA" b="1" dirty="0">
                <a:solidFill>
                  <a:srgbClr val="649CBF"/>
                </a:solidFill>
              </a:rPr>
              <a:t> років тому</a:t>
            </a:r>
            <a:r>
              <a:rPr lang="en-US" b="1" dirty="0">
                <a:solidFill>
                  <a:srgbClr val="649CBF"/>
                </a:solidFill>
              </a:rPr>
              <a:t>)</a:t>
            </a:r>
            <a:endParaRPr lang="en-US" dirty="0"/>
          </a:p>
          <a:p>
            <a:endParaRPr lang="uk-UA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08E5BE-9ABC-4931-AB9D-36E3EEA8FDBB}"/>
              </a:ext>
            </a:extLst>
          </p:cNvPr>
          <p:cNvSpPr txBox="1"/>
          <p:nvPr/>
        </p:nvSpPr>
        <p:spPr>
          <a:xfrm>
            <a:off x="358911" y="6472055"/>
            <a:ext cx="10905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Інформація з</a:t>
            </a:r>
            <a:r>
              <a:rPr lang="en-US" sz="1400" dirty="0"/>
              <a:t>: https://en.wikipedia.org/wiki/AV1</a:t>
            </a:r>
            <a:r>
              <a:rPr lang="uk-UA" sz="1400" dirty="0"/>
              <a:t> та </a:t>
            </a:r>
            <a:r>
              <a:rPr lang="en-US" sz="1400" dirty="0"/>
              <a:t>https://uploadcare.com/blog/avif-image-format/</a:t>
            </a:r>
            <a:endParaRPr lang="uk-UA" sz="1400" dirty="0"/>
          </a:p>
        </p:txBody>
      </p:sp>
    </p:spTree>
    <p:extLst>
      <p:ext uri="{BB962C8B-B14F-4D97-AF65-F5344CB8AC3E}">
        <p14:creationId xmlns:p14="http://schemas.microsoft.com/office/powerpoint/2010/main" val="3980737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02E896-E61A-4271-BDF1-A3E8648F77E9}"/>
              </a:ext>
            </a:extLst>
          </p:cNvPr>
          <p:cNvSpPr txBox="1">
            <a:spLocks/>
          </p:cNvSpPr>
          <p:nvPr/>
        </p:nvSpPr>
        <p:spPr>
          <a:xfrm>
            <a:off x="553720" y="38544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5400" dirty="0">
                <a:solidFill>
                  <a:srgbClr val="4C7BA7"/>
                </a:solidFill>
              </a:rPr>
              <a:t>Навіщо воно потрібно?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0BBEE-DA46-475E-828E-D80421DA5719}"/>
              </a:ext>
            </a:extLst>
          </p:cNvPr>
          <p:cNvSpPr txBox="1"/>
          <p:nvPr/>
        </p:nvSpPr>
        <p:spPr>
          <a:xfrm>
            <a:off x="358911" y="6472055"/>
            <a:ext cx="10905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Картинка з</a:t>
            </a:r>
            <a:r>
              <a:rPr lang="en-US" sz="1400" dirty="0"/>
              <a:t>: https://wallpapersafari.com/w/U6PCaJ</a:t>
            </a:r>
            <a:r>
              <a:rPr lang="uk-UA" sz="1400" dirty="0"/>
              <a:t>, Застосунок</a:t>
            </a:r>
            <a:r>
              <a:rPr lang="en-US" sz="1400" dirty="0"/>
              <a:t>: https://squoosh.app/editor</a:t>
            </a:r>
            <a:endParaRPr lang="uk-UA" sz="1400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99B96A3-4EA0-41E0-8968-199485493E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0257752"/>
              </p:ext>
            </p:extLst>
          </p:nvPr>
        </p:nvGraphicFramePr>
        <p:xfrm>
          <a:off x="553720" y="1708963"/>
          <a:ext cx="7852780" cy="44580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F0750B05-8FB5-4921-A5A9-3E2F9D6AE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6882" y="1871061"/>
            <a:ext cx="3444227" cy="19355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4A03A19-7206-41B9-AA01-14A49E7D74EA}"/>
              </a:ext>
            </a:extLst>
          </p:cNvPr>
          <p:cNvSpPr txBox="1"/>
          <p:nvPr/>
        </p:nvSpPr>
        <p:spPr>
          <a:xfrm>
            <a:off x="10836790" y="3855608"/>
            <a:ext cx="1134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649CBF"/>
                </a:solidFill>
              </a:rPr>
              <a:t>1920x1079</a:t>
            </a:r>
            <a:endParaRPr lang="uk-UA" sz="1600" dirty="0">
              <a:solidFill>
                <a:srgbClr val="649CB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885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02E896-E61A-4271-BDF1-A3E8648F77E9}"/>
              </a:ext>
            </a:extLst>
          </p:cNvPr>
          <p:cNvSpPr txBox="1">
            <a:spLocks/>
          </p:cNvSpPr>
          <p:nvPr/>
        </p:nvSpPr>
        <p:spPr>
          <a:xfrm>
            <a:off x="553720" y="38544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5400" dirty="0">
                <a:solidFill>
                  <a:srgbClr val="4C7BA7"/>
                </a:solidFill>
              </a:rPr>
              <a:t>Другий приклад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0BBEE-DA46-475E-828E-D80421DA5719}"/>
              </a:ext>
            </a:extLst>
          </p:cNvPr>
          <p:cNvSpPr txBox="1"/>
          <p:nvPr/>
        </p:nvSpPr>
        <p:spPr>
          <a:xfrm>
            <a:off x="358911" y="6472055"/>
            <a:ext cx="10905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Картинка з</a:t>
            </a:r>
            <a:r>
              <a:rPr lang="en-US" sz="1400" dirty="0"/>
              <a:t>: https://topdogfilmfestival.com.au/the-science-behind-why-dogs-are-so-cute/</a:t>
            </a:r>
            <a:r>
              <a:rPr lang="uk-UA" sz="1400" dirty="0"/>
              <a:t>, Застосунок</a:t>
            </a:r>
            <a:r>
              <a:rPr lang="en-US" sz="1400" dirty="0"/>
              <a:t>: https://squoosh.app/editor</a:t>
            </a:r>
            <a:endParaRPr lang="uk-UA" sz="1400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99B96A3-4EA0-41E0-8968-199485493E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5363181"/>
              </p:ext>
            </p:extLst>
          </p:nvPr>
        </p:nvGraphicFramePr>
        <p:xfrm>
          <a:off x="553720" y="1708963"/>
          <a:ext cx="7852780" cy="44580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4A03A19-7206-41B9-AA01-14A49E7D74EA}"/>
              </a:ext>
            </a:extLst>
          </p:cNvPr>
          <p:cNvSpPr txBox="1"/>
          <p:nvPr/>
        </p:nvSpPr>
        <p:spPr>
          <a:xfrm>
            <a:off x="10623795" y="3686331"/>
            <a:ext cx="1134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649CBF"/>
                </a:solidFill>
              </a:rPr>
              <a:t>1536x1086</a:t>
            </a:r>
            <a:endParaRPr lang="uk-UA" sz="1600" dirty="0">
              <a:solidFill>
                <a:srgbClr val="649CB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B56BBE-3B8B-4FBA-80EF-0B6B45E339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6500" y="1180880"/>
            <a:ext cx="3351614" cy="236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63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EF9CC87-4B82-409B-91F6-A35EFEA53A30}"/>
              </a:ext>
            </a:extLst>
          </p:cNvPr>
          <p:cNvSpPr txBox="1">
            <a:spLocks/>
          </p:cNvSpPr>
          <p:nvPr/>
        </p:nvSpPr>
        <p:spPr>
          <a:xfrm>
            <a:off x="599527" y="57771"/>
            <a:ext cx="89004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5400" dirty="0">
                <a:solidFill>
                  <a:srgbClr val="4C7BA7"/>
                </a:solidFill>
              </a:rPr>
              <a:t>Порівняння якості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E9656C-A7A8-4619-BBF4-7B7639DC6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26" y="1383334"/>
            <a:ext cx="5192361" cy="36658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726AF34-3CB8-4035-9AD3-375CB2E0A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492" y="1383334"/>
            <a:ext cx="5152482" cy="36658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423C67-30D1-49D7-95F6-67F6C6F74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3234" y="4210570"/>
            <a:ext cx="3424804" cy="22960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3B2B656-38E5-4E1E-8FB4-95A4661742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2975" y="4109632"/>
            <a:ext cx="3934917" cy="269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488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85215B4-7E8E-4A68-8A7F-3177AB4C6340}"/>
              </a:ext>
            </a:extLst>
          </p:cNvPr>
          <p:cNvSpPr txBox="1">
            <a:spLocks/>
          </p:cNvSpPr>
          <p:nvPr/>
        </p:nvSpPr>
        <p:spPr>
          <a:xfrm>
            <a:off x="599527" y="57771"/>
            <a:ext cx="89004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5400" dirty="0">
                <a:solidFill>
                  <a:srgbClr val="4C7BA7"/>
                </a:solidFill>
              </a:rPr>
              <a:t>Підтримка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A6415E-CECA-4F57-89A2-C60F5F4F7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069" y="1459762"/>
            <a:ext cx="9113520" cy="20401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6F1063-C607-4723-9122-7BC309E01C33}"/>
              </a:ext>
            </a:extLst>
          </p:cNvPr>
          <p:cNvSpPr txBox="1"/>
          <p:nvPr/>
        </p:nvSpPr>
        <p:spPr>
          <a:xfrm>
            <a:off x="599527" y="3943880"/>
            <a:ext cx="40639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Adobe Photoshop – </a:t>
            </a:r>
            <a:r>
              <a:rPr lang="uk-UA" dirty="0"/>
              <a:t>Червень</a:t>
            </a:r>
            <a:r>
              <a:rPr lang="en-US" dirty="0"/>
              <a:t> 2025</a:t>
            </a:r>
          </a:p>
          <a:p>
            <a:r>
              <a:rPr lang="en-US" dirty="0"/>
              <a:t>Adobe </a:t>
            </a:r>
            <a:r>
              <a:rPr lang="en-US" dirty="0" err="1"/>
              <a:t>Illustator</a:t>
            </a:r>
            <a:r>
              <a:rPr lang="en-US" dirty="0"/>
              <a:t> – </a:t>
            </a:r>
            <a:r>
              <a:rPr lang="uk-UA" dirty="0"/>
              <a:t>Травень 2022</a:t>
            </a:r>
            <a:endParaRPr lang="en-US" dirty="0"/>
          </a:p>
          <a:p>
            <a:r>
              <a:rPr lang="en-US" dirty="0"/>
              <a:t>GIMP –</a:t>
            </a:r>
            <a:r>
              <a:rPr lang="uk-UA" dirty="0"/>
              <a:t> Жовтень </a:t>
            </a:r>
            <a:r>
              <a:rPr lang="en-US" dirty="0"/>
              <a:t>2020</a:t>
            </a:r>
          </a:p>
          <a:p>
            <a:r>
              <a:rPr lang="en-US" dirty="0" err="1"/>
              <a:t>FFmpeg</a:t>
            </a:r>
            <a:endParaRPr lang="en-US" dirty="0"/>
          </a:p>
          <a:p>
            <a:r>
              <a:rPr lang="en-US" dirty="0"/>
              <a:t>Windows/Android/Apple/ Linux</a:t>
            </a:r>
            <a:r>
              <a:rPr lang="uk-UA" dirty="0"/>
              <a:t> </a:t>
            </a:r>
            <a:endParaRPr lang="en-US" dirty="0"/>
          </a:p>
          <a:p>
            <a:r>
              <a:rPr lang="en-US" dirty="0"/>
              <a:t>Discord – </a:t>
            </a:r>
            <a:r>
              <a:rPr lang="uk-UA" dirty="0"/>
              <a:t>Березень </a:t>
            </a:r>
            <a:r>
              <a:rPr lang="en-US" dirty="0"/>
              <a:t>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A16E34-2C74-4F08-A904-A19DD2707BAD}"/>
              </a:ext>
            </a:extLst>
          </p:cNvPr>
          <p:cNvSpPr txBox="1"/>
          <p:nvPr/>
        </p:nvSpPr>
        <p:spPr>
          <a:xfrm>
            <a:off x="358911" y="6472055"/>
            <a:ext cx="10905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Інформація з</a:t>
            </a:r>
            <a:r>
              <a:rPr lang="en-US" sz="1400" dirty="0"/>
              <a:t>: https://en.wikipedia.org/wiki/AV1</a:t>
            </a:r>
            <a:r>
              <a:rPr lang="uk-UA" sz="1400" dirty="0"/>
              <a:t> та </a:t>
            </a:r>
            <a:r>
              <a:rPr lang="en-US" sz="1400" dirty="0"/>
              <a:t>https://caniuse.com/avif</a:t>
            </a:r>
            <a:endParaRPr lang="uk-UA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7274D33-BF5E-468E-98EC-068436D484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829" y="3594364"/>
            <a:ext cx="5779347" cy="305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7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85215B4-7E8E-4A68-8A7F-3177AB4C6340}"/>
              </a:ext>
            </a:extLst>
          </p:cNvPr>
          <p:cNvSpPr txBox="1">
            <a:spLocks/>
          </p:cNvSpPr>
          <p:nvPr/>
        </p:nvSpPr>
        <p:spPr>
          <a:xfrm>
            <a:off x="599527" y="57771"/>
            <a:ext cx="95350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5400" dirty="0">
                <a:solidFill>
                  <a:srgbClr val="4C7BA7"/>
                </a:solidFill>
              </a:rPr>
              <a:t>Переведення з інших форматів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5281679-3B62-4B1D-A989-BF47F1B76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50" y="2188130"/>
            <a:ext cx="3841750" cy="11525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AECC7E-C890-4D0B-973B-1F0C0CC6B1BE}"/>
              </a:ext>
            </a:extLst>
          </p:cNvPr>
          <p:cNvSpPr txBox="1"/>
          <p:nvPr/>
        </p:nvSpPr>
        <p:spPr>
          <a:xfrm>
            <a:off x="599526" y="3669268"/>
            <a:ext cx="35279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https://squoosh.app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https://github.com/GoogleChromeLabs/squoosh</a:t>
            </a:r>
            <a:endParaRPr lang="uk-UA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D58B097-B6F4-4912-9616-BC5F40E58B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702" y="2221572"/>
            <a:ext cx="3194050" cy="111908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044ABCA-08D1-4FE2-9531-5AED6A38BC00}"/>
              </a:ext>
            </a:extLst>
          </p:cNvPr>
          <p:cNvSpPr txBox="1"/>
          <p:nvPr/>
        </p:nvSpPr>
        <p:spPr>
          <a:xfrm>
            <a:off x="8024815" y="3669268"/>
            <a:ext cx="28019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https://imageengine.io</a:t>
            </a:r>
            <a:endParaRPr lang="en-US" dirty="0"/>
          </a:p>
          <a:p>
            <a:r>
              <a:rPr lang="en-US" dirty="0"/>
              <a:t>https://github.com/imgeng</a:t>
            </a:r>
            <a:endParaRPr lang="uk-UA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6A87B98-F9DE-493C-BFDA-BC93A006E5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662" y="3669268"/>
            <a:ext cx="1533525" cy="15335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D5BB9A1-E38A-45C6-97BA-4722CB982B7E}"/>
              </a:ext>
            </a:extLst>
          </p:cNvPr>
          <p:cNvSpPr txBox="1"/>
          <p:nvPr/>
        </p:nvSpPr>
        <p:spPr>
          <a:xfrm>
            <a:off x="4019551" y="5371624"/>
            <a:ext cx="3762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https://github.com/SalOne22/rimage</a:t>
            </a:r>
          </a:p>
        </p:txBody>
      </p:sp>
    </p:spTree>
    <p:extLst>
      <p:ext uri="{BB962C8B-B14F-4D97-AF65-F5344CB8AC3E}">
        <p14:creationId xmlns:p14="http://schemas.microsoft.com/office/powerpoint/2010/main" val="4041434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85215B4-7E8E-4A68-8A7F-3177AB4C6340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6419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sz="6600" dirty="0">
                <a:solidFill>
                  <a:srgbClr val="4C7BA7"/>
                </a:solidFill>
              </a:rPr>
              <a:t>Дякую за увагу</a:t>
            </a:r>
          </a:p>
        </p:txBody>
      </p:sp>
    </p:spTree>
    <p:extLst>
      <p:ext uri="{BB962C8B-B14F-4D97-AF65-F5344CB8AC3E}">
        <p14:creationId xmlns:p14="http://schemas.microsoft.com/office/powerpoint/2010/main" val="1534778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238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AV1 Image File Format</vt:lpstr>
      <vt:lpstr>Що воно таке?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AV1 Image File Format</dc:title>
  <dc:creator>Ivan Schedrovskiy</dc:creator>
  <cp:lastModifiedBy>Ivan Schedrovskiy</cp:lastModifiedBy>
  <cp:revision>36</cp:revision>
  <dcterms:created xsi:type="dcterms:W3CDTF">2025-12-09T06:21:37Z</dcterms:created>
  <dcterms:modified xsi:type="dcterms:W3CDTF">2025-12-09T09:11:45Z</dcterms:modified>
</cp:coreProperties>
</file>