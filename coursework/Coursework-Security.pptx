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4" r:id="rId6"/>
    <p:sldId id="265" r:id="rId7"/>
    <p:sldId id="268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  <a:srgbClr val="FFC700"/>
    <a:srgbClr val="212121"/>
    <a:srgbClr val="FF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26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98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47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13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99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08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86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52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91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270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84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D30AA-2EE1-42B5-AC13-F154391E4C8F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74E55-24F0-4671-8BDF-CE1EAC7A32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03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ltlaitof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5276" y="2828614"/>
            <a:ext cx="9493432" cy="1036391"/>
          </a:xfrm>
        </p:spPr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Розробка</a:t>
            </a:r>
            <a:r>
              <a:rPr lang="ru-RU" sz="2800" b="0" i="0" dirty="0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 </a:t>
            </a:r>
            <a:r>
              <a:rPr lang="ru-RU" sz="2800" b="0" i="0" dirty="0" err="1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програмного</a:t>
            </a:r>
            <a:r>
              <a:rPr lang="ru-RU" sz="2800" b="0" i="0" dirty="0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 </a:t>
            </a:r>
            <a:r>
              <a:rPr lang="ru-RU" sz="2800" b="0" i="0" dirty="0" err="1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засобу</a:t>
            </a:r>
            <a:r>
              <a:rPr lang="ru-RU" sz="2800" b="0" i="0" dirty="0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 стеганографічного </a:t>
            </a:r>
            <a:r>
              <a:rPr lang="ru-RU" sz="2800" b="0" i="0" dirty="0" err="1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захисту</a:t>
            </a:r>
            <a:r>
              <a:rPr lang="ru-RU" sz="2800" b="0" i="0" dirty="0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 </a:t>
            </a:r>
            <a:r>
              <a:rPr lang="ru-RU" sz="2800" b="0" i="0" dirty="0" err="1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інформації</a:t>
            </a:r>
            <a:r>
              <a:rPr lang="en-US" sz="2800" dirty="0">
                <a:solidFill>
                  <a:srgbClr val="1F1F1F"/>
                </a:solidFill>
                <a:latin typeface="Calibri Light (Заголовки)Calibri Light (Заголовки)"/>
              </a:rPr>
              <a:t> </a:t>
            </a:r>
            <a:r>
              <a:rPr lang="ru-RU" sz="2800" b="0" i="0" dirty="0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в </a:t>
            </a:r>
            <a:r>
              <a:rPr lang="ru-RU" sz="2800" b="0" i="0" dirty="0" err="1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цифрових</a:t>
            </a:r>
            <a:r>
              <a:rPr lang="ru-RU" sz="2800" b="0" i="0" dirty="0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 </a:t>
            </a:r>
            <a:r>
              <a:rPr lang="ru-RU" sz="2800" b="0" i="0" dirty="0" err="1">
                <a:solidFill>
                  <a:srgbClr val="1F1F1F"/>
                </a:solidFill>
                <a:effectLst/>
                <a:latin typeface="Calibri Light (Заголовки)Calibri Light (Заголовки)"/>
              </a:rPr>
              <a:t>зображеннях</a:t>
            </a:r>
            <a:endParaRPr lang="ru-RU" sz="2800" dirty="0">
              <a:solidFill>
                <a:srgbClr val="363636"/>
              </a:solidFill>
              <a:latin typeface="Calibri Light (Заголовки)Calibri Light (Заголовки)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3619" y="1786128"/>
            <a:ext cx="8044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rgbClr val="363636"/>
                </a:solidFill>
              </a:rPr>
              <a:t>ТЕМА КУРСОВОЇ  РОБОТИ</a:t>
            </a:r>
            <a:r>
              <a:rPr lang="ru-RU" sz="4800" dirty="0">
                <a:solidFill>
                  <a:srgbClr val="FFC700"/>
                </a:solidFill>
              </a:rPr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880" y="-2050324"/>
            <a:ext cx="2419350" cy="1066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DB9420-23DC-499E-AEC5-2556B8773CF2}"/>
              </a:ext>
            </a:extLst>
          </p:cNvPr>
          <p:cNvSpPr txBox="1"/>
          <p:nvPr/>
        </p:nvSpPr>
        <p:spPr>
          <a:xfrm>
            <a:off x="0" y="6550223"/>
            <a:ext cx="2953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C700"/>
                </a:solidFill>
              </a:rPr>
              <a:t>email:</a:t>
            </a:r>
            <a:r>
              <a:rPr lang="en-US" sz="1400" dirty="0">
                <a:solidFill>
                  <a:srgbClr val="363636"/>
                </a:solidFill>
              </a:rPr>
              <a:t> schedrovskiyivam@gmail.com</a:t>
            </a:r>
            <a:endParaRPr lang="ru-RU" sz="1400" dirty="0">
              <a:solidFill>
                <a:srgbClr val="36363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E932DE-DD4F-4BB1-93AC-98617E6533B8}"/>
              </a:ext>
            </a:extLst>
          </p:cNvPr>
          <p:cNvSpPr txBox="1"/>
          <p:nvPr/>
        </p:nvSpPr>
        <p:spPr>
          <a:xfrm>
            <a:off x="2846895" y="6550222"/>
            <a:ext cx="1706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C700"/>
                </a:solidFill>
              </a:rPr>
              <a:t>telegram:</a:t>
            </a:r>
            <a:r>
              <a:rPr lang="en-US" sz="1400" dirty="0">
                <a:solidFill>
                  <a:srgbClr val="363636"/>
                </a:solidFill>
              </a:rPr>
              <a:t> </a:t>
            </a:r>
            <a:r>
              <a:rPr lang="en-US" sz="1400" dirty="0">
                <a:solidFill>
                  <a:srgbClr val="36363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@ltlaitoff</a:t>
            </a:r>
            <a:endParaRPr lang="ru-RU" sz="1400" dirty="0">
              <a:solidFill>
                <a:srgbClr val="363636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02EC19B-0E83-4ADD-9B02-619E284676E2}"/>
              </a:ext>
            </a:extLst>
          </p:cNvPr>
          <p:cNvSpPr txBox="1">
            <a:spLocks/>
          </p:cNvSpPr>
          <p:nvPr/>
        </p:nvSpPr>
        <p:spPr>
          <a:xfrm>
            <a:off x="2782887" y="3852954"/>
            <a:ext cx="6252428" cy="775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dirty="0" err="1">
                <a:solidFill>
                  <a:srgbClr val="363636"/>
                </a:solidFill>
                <a:latin typeface="Calibri Light (Заголовки)Calibri Light (Заголовки)"/>
              </a:rPr>
              <a:t>Виконав</a:t>
            </a:r>
            <a:r>
              <a:rPr lang="ru-RU" sz="2000" dirty="0">
                <a:solidFill>
                  <a:srgbClr val="363636"/>
                </a:solidFill>
                <a:latin typeface="Calibri Light (Заголовки)Calibri Light (Заголовки)"/>
              </a:rPr>
              <a:t>: студент КНТ-113сп </a:t>
            </a:r>
            <a:r>
              <a:rPr lang="ru-RU" sz="2000" dirty="0" err="1">
                <a:solidFill>
                  <a:srgbClr val="363636"/>
                </a:solidFill>
                <a:latin typeface="Calibri Light (Заголовки)Calibri Light (Заголовки)"/>
              </a:rPr>
              <a:t>Щедровський</a:t>
            </a:r>
            <a:r>
              <a:rPr lang="ru-RU" sz="2000" dirty="0">
                <a:solidFill>
                  <a:srgbClr val="363636"/>
                </a:solidFill>
                <a:latin typeface="Calibri Light (Заголовки)Calibri Light (Заголовки)"/>
              </a:rPr>
              <a:t> </a:t>
            </a:r>
            <a:r>
              <a:rPr lang="ru-RU" sz="2000" dirty="0" err="1">
                <a:solidFill>
                  <a:srgbClr val="363636"/>
                </a:solidFill>
                <a:latin typeface="Calibri Light (Заголовки)Calibri Light (Заголовки)"/>
              </a:rPr>
              <a:t>Іван</a:t>
            </a:r>
            <a:endParaRPr lang="ru-RU" sz="2000" dirty="0">
              <a:solidFill>
                <a:srgbClr val="363636"/>
              </a:solidFill>
              <a:latin typeface="Calibri Light (Заголовки)Calibri Light (Заголовки)"/>
            </a:endParaRPr>
          </a:p>
          <a:p>
            <a:pPr>
              <a:lnSpc>
                <a:spcPct val="100000"/>
              </a:lnSpc>
            </a:pPr>
            <a:r>
              <a:rPr lang="ru-RU" sz="2000" dirty="0" err="1">
                <a:solidFill>
                  <a:srgbClr val="363636"/>
                </a:solidFill>
                <a:latin typeface="Calibri Light (Заголовки)Calibri Light (Заголовки)"/>
              </a:rPr>
              <a:t>Керівник</a:t>
            </a:r>
            <a:r>
              <a:rPr lang="ru-RU" sz="2000" dirty="0">
                <a:solidFill>
                  <a:srgbClr val="363636"/>
                </a:solidFill>
                <a:latin typeface="Calibri Light (Заголовки)Calibri Light (Заголовки)"/>
              </a:rPr>
              <a:t>: доцент Зайко </a:t>
            </a:r>
            <a:r>
              <a:rPr lang="ru-RU" sz="2000" dirty="0" err="1">
                <a:solidFill>
                  <a:srgbClr val="363636"/>
                </a:solidFill>
                <a:latin typeface="Calibri Light (Заголовки)Calibri Light (Заголовки)"/>
              </a:rPr>
              <a:t>Тетяна</a:t>
            </a:r>
            <a:endParaRPr lang="ru-RU" sz="2000" dirty="0">
              <a:solidFill>
                <a:srgbClr val="363636"/>
              </a:solidFill>
              <a:latin typeface="Calibri Light (Заголовки)Calibri Light (Заголовки)"/>
            </a:endParaRPr>
          </a:p>
        </p:txBody>
      </p:sp>
    </p:spTree>
    <p:extLst>
      <p:ext uri="{BB962C8B-B14F-4D97-AF65-F5344CB8AC3E}">
        <p14:creationId xmlns:p14="http://schemas.microsoft.com/office/powerpoint/2010/main" val="296926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06050" y="515330"/>
            <a:ext cx="4340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363636"/>
                </a:solidFill>
              </a:rPr>
              <a:t>ЗМІСТ</a:t>
            </a:r>
            <a:r>
              <a:rPr lang="ru-RU" sz="4800" dirty="0">
                <a:solidFill>
                  <a:srgbClr val="FFC700"/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A58E2-B038-42F0-96FA-033EBEF40FBE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2</a:t>
            </a:fld>
            <a:endParaRPr lang="uk-UA" dirty="0">
              <a:solidFill>
                <a:srgbClr val="363636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FEB27EA-24EE-49EF-992A-D681D2DC3E6A}"/>
              </a:ext>
            </a:extLst>
          </p:cNvPr>
          <p:cNvSpPr txBox="1">
            <a:spLocks/>
          </p:cNvSpPr>
          <p:nvPr/>
        </p:nvSpPr>
        <p:spPr>
          <a:xfrm>
            <a:off x="939292" y="1673565"/>
            <a:ext cx="9998257" cy="48129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Мета роботи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Результати аналізу предметної області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Аналіз програм аналогів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ffectLst/>
                <a:ea typeface="Times New Roman" panose="02020603050405020304" pitchFamily="18" charset="0"/>
              </a:rPr>
              <a:t>Структурна схема системи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ffectLst/>
                <a:ea typeface="Times New Roman" panose="02020603050405020304" pitchFamily="18" charset="0"/>
              </a:rPr>
              <a:t>Середовище функціонування</a:t>
            </a:r>
            <a:endParaRPr lang="en-US" sz="2800" dirty="0">
              <a:solidFill>
                <a:srgbClr val="363636"/>
              </a:solidFill>
              <a:effectLst/>
              <a:ea typeface="Times New Roman" panose="02020603050405020304" pitchFamily="18" charset="0"/>
            </a:endParaRP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Демонстрація роботи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ffectLst/>
                <a:ea typeface="Times New Roman" panose="02020603050405020304" pitchFamily="18" charset="0"/>
              </a:rPr>
              <a:t>Висновки</a:t>
            </a:r>
          </a:p>
        </p:txBody>
      </p:sp>
    </p:spTree>
    <p:extLst>
      <p:ext uri="{BB962C8B-B14F-4D97-AF65-F5344CB8AC3E}">
        <p14:creationId xmlns:p14="http://schemas.microsoft.com/office/powerpoint/2010/main" val="292258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168074" y="2807254"/>
            <a:ext cx="10198100" cy="16313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uk-UA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Метою цієї роботи є розробка </a:t>
            </a:r>
            <a:r>
              <a:rPr lang="uk-UA" sz="28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вебзастосунку</a:t>
            </a:r>
            <a:r>
              <a:rPr lang="uk-UA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для вбудовування</a:t>
            </a:r>
            <a:r>
              <a:rPr lang="uk-UA" sz="28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uk-UA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інформації в цифрові зображення</a:t>
            </a:r>
            <a:endParaRPr lang="uk-UA" sz="2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96875" y="1684157"/>
            <a:ext cx="4340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363636"/>
                </a:solidFill>
              </a:rPr>
              <a:t>МЕТА РОБОТИ</a:t>
            </a:r>
            <a:r>
              <a:rPr lang="ru-RU" sz="4800" dirty="0">
                <a:solidFill>
                  <a:srgbClr val="FFC700"/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A58E2-B038-42F0-96FA-033EBEF40FBE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3</a:t>
            </a:fld>
            <a:endParaRPr lang="uk-UA" dirty="0">
              <a:solidFill>
                <a:srgbClr val="3636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287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390590" y="1673565"/>
            <a:ext cx="7430262" cy="35108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 err="1">
                <a:solidFill>
                  <a:srgbClr val="363636"/>
                </a:solidFill>
                <a:ea typeface="Times New Roman" panose="02020603050405020304" pitchFamily="18" charset="0"/>
              </a:rPr>
              <a:t>Стеганографія</a:t>
            </a: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 має довгу історію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Існує велика кількість інструментів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Багато методів побудовані на основі </a:t>
            </a:r>
            <a:r>
              <a:rPr lang="en-US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LSB</a:t>
            </a:r>
            <a:endParaRPr lang="uk-UA" sz="2800" dirty="0">
              <a:solidFill>
                <a:srgbClr val="363636"/>
              </a:solidFill>
              <a:ea typeface="Times New Roman" panose="02020603050405020304" pitchFamily="18" charset="0"/>
            </a:endParaRP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Приховування в зображені є дуже гарним</a:t>
            </a:r>
            <a:endParaRPr lang="en-US" sz="2800" dirty="0">
              <a:solidFill>
                <a:srgbClr val="363636"/>
              </a:solidFill>
              <a:ea typeface="Times New Roman" panose="02020603050405020304" pitchFamily="18" charset="0"/>
            </a:endParaRP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Метод </a:t>
            </a:r>
            <a:r>
              <a:rPr lang="en-US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BPCS</a:t>
            </a:r>
            <a:r>
              <a:rPr lang="uk-UA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 працює краще, а ніж </a:t>
            </a:r>
            <a:r>
              <a:rPr lang="en-US" sz="2800" dirty="0">
                <a:solidFill>
                  <a:srgbClr val="363636"/>
                </a:solidFill>
                <a:ea typeface="Times New Roman" panose="02020603050405020304" pitchFamily="18" charset="0"/>
              </a:rPr>
              <a:t>LSB</a:t>
            </a: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endParaRPr lang="uk-UA" sz="2800" dirty="0">
              <a:solidFill>
                <a:srgbClr val="363636"/>
              </a:solidFill>
              <a:ea typeface="Times New Roman" panose="02020603050405020304" pitchFamily="18" charset="0"/>
            </a:endParaRPr>
          </a:p>
          <a:p>
            <a:pPr marL="571500" lvl="0" indent="-571500">
              <a:lnSpc>
                <a:spcPct val="150000"/>
              </a:lnSpc>
              <a:buClr>
                <a:srgbClr val="FFC700"/>
              </a:buClr>
              <a:buFont typeface="Arial" panose="020B0604020202020204" pitchFamily="34" charset="0"/>
              <a:buChar char="•"/>
            </a:pPr>
            <a:endParaRPr lang="uk-UA" sz="2800" dirty="0">
              <a:solidFill>
                <a:srgbClr val="363636"/>
              </a:solidFill>
              <a:ea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9762" y="492978"/>
            <a:ext cx="8372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800" dirty="0">
                <a:solidFill>
                  <a:srgbClr val="363636"/>
                </a:solidFill>
              </a:rPr>
              <a:t>АНАЛІЗ ПРЕДМЕТНОЇ ОБЛАСТІ</a:t>
            </a:r>
            <a:r>
              <a:rPr lang="ru-RU" sz="4800" dirty="0">
                <a:solidFill>
                  <a:srgbClr val="FFC700"/>
                </a:solidFill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422CD-B50A-478C-AB4D-AEFBA093A0C7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4</a:t>
            </a:fld>
            <a:endParaRPr lang="uk-UA" dirty="0">
              <a:solidFill>
                <a:srgbClr val="36363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986AB-DE51-409E-BC80-C22708D8D61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280" y="1422609"/>
            <a:ext cx="3054985" cy="276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55316B-FC34-447A-A7BE-BDA1650953D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959" y="4286536"/>
            <a:ext cx="3671306" cy="22038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5504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E0176F-D2A5-4961-905E-9AC217E26683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5</a:t>
            </a:fld>
            <a:endParaRPr lang="uk-UA" dirty="0">
              <a:solidFill>
                <a:srgbClr val="36363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43821-3822-4A65-B59C-35A8EF675A3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0"/>
            <a:ext cx="7908925" cy="68364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56A302-06D9-43F2-ABEC-80E365C5CAED}"/>
              </a:ext>
            </a:extLst>
          </p:cNvPr>
          <p:cNvSpPr txBox="1"/>
          <p:nvPr/>
        </p:nvSpPr>
        <p:spPr>
          <a:xfrm>
            <a:off x="8826500" y="1079906"/>
            <a:ext cx="304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600" dirty="0" err="1">
                <a:solidFill>
                  <a:srgbClr val="36363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Pilania</a:t>
            </a:r>
            <a:r>
              <a:rPr lang="en-US" sz="1600" dirty="0">
                <a:solidFill>
                  <a:srgbClr val="36363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U., </a:t>
            </a:r>
            <a:r>
              <a:rPr lang="en-US" sz="1600" dirty="0" err="1">
                <a:solidFill>
                  <a:srgbClr val="36363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Tanwar</a:t>
            </a:r>
            <a:r>
              <a:rPr lang="en-US" sz="1600" dirty="0">
                <a:solidFill>
                  <a:srgbClr val="36363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R., Gupta P. A roadmap of steganography tools: conventional to modern // Spatial Information Research. – 2021. – Vol. 29. – Pp. 10.1007/s41324-021-00393-7.</a:t>
            </a:r>
            <a:endParaRPr lang="uk-UA" sz="1600" dirty="0">
              <a:solidFill>
                <a:srgbClr val="36363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54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1CCBD-82FF-4350-BD04-C1EDFC56DF00}"/>
              </a:ext>
            </a:extLst>
          </p:cNvPr>
          <p:cNvSpPr txBox="1"/>
          <p:nvPr/>
        </p:nvSpPr>
        <p:spPr>
          <a:xfrm>
            <a:off x="2161221" y="446034"/>
            <a:ext cx="78695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363636"/>
                </a:solidFill>
              </a:rPr>
              <a:t>СТРУКТУРНА СХЕМА СИСТЕМИ</a:t>
            </a:r>
            <a:r>
              <a:rPr lang="ru-RU" sz="4000" dirty="0">
                <a:solidFill>
                  <a:srgbClr val="FFC700"/>
                </a:solidFill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3B073-E954-4268-9EF5-7A631690D159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6</a:t>
            </a:fld>
            <a:endParaRPr lang="uk-UA" dirty="0">
              <a:solidFill>
                <a:srgbClr val="36363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AB6F4-4602-4D08-94CC-0FB8B579AF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91849" y="1321958"/>
            <a:ext cx="8538929" cy="43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5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1CCBD-82FF-4350-BD04-C1EDFC56DF00}"/>
              </a:ext>
            </a:extLst>
          </p:cNvPr>
          <p:cNvSpPr txBox="1"/>
          <p:nvPr/>
        </p:nvSpPr>
        <p:spPr>
          <a:xfrm>
            <a:off x="2161221" y="446034"/>
            <a:ext cx="78695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363636"/>
                </a:solidFill>
              </a:rPr>
              <a:t>СЕРЕДОВИЩЕ ФУНКЦІОНУВАННЯ</a:t>
            </a:r>
            <a:r>
              <a:rPr lang="ru-RU" sz="4000" dirty="0">
                <a:solidFill>
                  <a:srgbClr val="FFC700"/>
                </a:solidFill>
              </a:rPr>
              <a:t>: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CA44FA9-3D20-481D-A14D-9C58FF9754DD}"/>
              </a:ext>
            </a:extLst>
          </p:cNvPr>
          <p:cNvSpPr txBox="1">
            <a:spLocks/>
          </p:cNvSpPr>
          <p:nvPr/>
        </p:nvSpPr>
        <p:spPr>
          <a:xfrm>
            <a:off x="2739071" y="2103845"/>
            <a:ext cx="6871273" cy="242243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50000"/>
              </a:lnSpc>
              <a:buClr>
                <a:srgbClr val="FFC700"/>
              </a:buClr>
            </a:pPr>
            <a:r>
              <a:rPr lang="uk-UA" sz="3200" dirty="0">
                <a:solidFill>
                  <a:srgbClr val="363636"/>
                </a:solidFill>
                <a:ea typeface="Times New Roman" panose="02020603050405020304" pitchFamily="18" charset="0"/>
              </a:rPr>
              <a:t>Для експлуатації застосунку потрібен браузер з підтримкою стандарту </a:t>
            </a:r>
            <a:r>
              <a:rPr lang="en-US" sz="3200" dirty="0" err="1">
                <a:solidFill>
                  <a:srgbClr val="363636"/>
                </a:solidFill>
                <a:ea typeface="Times New Roman" panose="02020603050405020304" pitchFamily="18" charset="0"/>
              </a:rPr>
              <a:t>WebAssembly</a:t>
            </a:r>
            <a:endParaRPr lang="en-US" sz="3200" dirty="0">
              <a:solidFill>
                <a:srgbClr val="363636"/>
              </a:solidFill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3B073-E954-4268-9EF5-7A631690D159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7</a:t>
            </a:fld>
            <a:endParaRPr lang="uk-UA" dirty="0">
              <a:solidFill>
                <a:srgbClr val="3636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75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69819" y="2465334"/>
            <a:ext cx="7558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800" dirty="0">
                <a:solidFill>
                  <a:srgbClr val="363636"/>
                </a:solidFill>
              </a:rPr>
              <a:t>ДЕМОНСТРАЦІЯ ПРОГРАМИ</a:t>
            </a:r>
            <a:endParaRPr lang="ru-RU" sz="4800" dirty="0">
              <a:solidFill>
                <a:srgbClr val="FFC7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4AE81-DD07-48F3-B3C6-BB3DF2DE93E7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8</a:t>
            </a:fld>
            <a:endParaRPr lang="uk-UA" dirty="0">
              <a:solidFill>
                <a:srgbClr val="3636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11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2028" y="1096011"/>
            <a:ext cx="8096522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У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ході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виконання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курсової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роботи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було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створено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застосунок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який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забезпечує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можливість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приховування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даних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в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зображеннях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різних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видів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для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майбутньої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їх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передачі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через мережу.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Під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час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аналізу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предметної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області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було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визначено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основні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методи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для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приховування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зображень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набуто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знань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про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інші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методи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, а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також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існуючі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програми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та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логіку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їх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роботи</a:t>
            </a:r>
            <a:r>
              <a:rPr lang="en-US" dirty="0">
                <a:latin typeface="Calibri Light (Headings)"/>
                <a:ea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uk-UA" sz="1800" dirty="0">
                <a:effectLst/>
                <a:latin typeface="Calibri Light (Headings)"/>
                <a:ea typeface="Times New Roman" panose="02020603050405020304" pitchFamily="18" charset="0"/>
              </a:rPr>
              <a:t>Було виконано проєктування системи, а також її розробка</a:t>
            </a:r>
          </a:p>
          <a:p>
            <a:pPr indent="450215" algn="just">
              <a:lnSpc>
                <a:spcPct val="150000"/>
              </a:lnSpc>
            </a:pPr>
            <a:r>
              <a:rPr lang="uk-UA" dirty="0">
                <a:latin typeface="Calibri Light (Headings)"/>
                <a:ea typeface="Times New Roman" panose="02020603050405020304" pitchFamily="18" charset="0"/>
              </a:rPr>
              <a:t>Розроблено супровідну документацію в вигляді керівництва програміста, керівництва оператора, опису програми та специфікації</a:t>
            </a:r>
            <a:endParaRPr lang="ru-RU" sz="1800" dirty="0">
              <a:effectLst/>
              <a:latin typeface="Calibri Light (Headings)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uk-UA" sz="1800" dirty="0">
                <a:effectLst/>
                <a:latin typeface="Calibri Light (Headings)"/>
                <a:ea typeface="Times New Roman" panose="02020603050405020304" pitchFamily="18" charset="0"/>
              </a:rPr>
              <a:t>Тестування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показало,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що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застосунок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працює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ефективно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та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відповідає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технічному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завданню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.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Також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в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результаті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тестування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було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знайдено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моменти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які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можна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буде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покращити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під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час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підтримки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alibri Light (Headings)"/>
                <a:ea typeface="Times New Roman" panose="02020603050405020304" pitchFamily="18" charset="0"/>
              </a:rPr>
              <a:t>застосунку</a:t>
            </a:r>
            <a:r>
              <a:rPr lang="ru-RU" sz="1800" dirty="0">
                <a:effectLst/>
                <a:latin typeface="Calibri Light (Headings)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9489" y="258709"/>
            <a:ext cx="2953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363636"/>
                </a:solidFill>
              </a:rPr>
              <a:t>ВИСНОВКИ</a:t>
            </a:r>
            <a:r>
              <a:rPr lang="ru-RU" sz="4000" dirty="0">
                <a:solidFill>
                  <a:srgbClr val="FFC700"/>
                </a:solidFill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7198C-69DD-433C-87BB-47C042B5017E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9</a:t>
            </a:fld>
            <a:endParaRPr lang="uk-UA" dirty="0">
              <a:solidFill>
                <a:srgbClr val="3636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51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12109" y="2598003"/>
            <a:ext cx="6562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800" dirty="0">
                <a:solidFill>
                  <a:srgbClr val="363636"/>
                </a:solidFill>
              </a:rPr>
              <a:t>ДОПОВІДЬ ЗАВЕРШЕНО</a:t>
            </a:r>
            <a:endParaRPr lang="ru-RU" sz="4800" dirty="0">
              <a:solidFill>
                <a:srgbClr val="FFC7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F1A19-B887-4A4F-9358-109B60A68820}"/>
              </a:ext>
            </a:extLst>
          </p:cNvPr>
          <p:cNvSpPr txBox="1"/>
          <p:nvPr/>
        </p:nvSpPr>
        <p:spPr>
          <a:xfrm>
            <a:off x="11366174" y="6315075"/>
            <a:ext cx="635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E8D3C5-50E6-432E-A5DF-928646D3BE88}" type="slidenum">
              <a:rPr lang="uk-UA" smtClean="0">
                <a:solidFill>
                  <a:srgbClr val="363636"/>
                </a:solidFill>
              </a:rPr>
              <a:t>10</a:t>
            </a:fld>
            <a:endParaRPr lang="uk-UA" dirty="0">
              <a:solidFill>
                <a:srgbClr val="3636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867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276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Calibri Light (Headings)</vt:lpstr>
      <vt:lpstr>Calibri Light (Заголовки)Calibri Light (Заголовки)</vt:lpstr>
      <vt:lpstr>Times New Roman</vt:lpstr>
      <vt:lpstr>Тема Office</vt:lpstr>
      <vt:lpstr>Розробка програмного засобу стеганографічного захисту інформації в цифрових зображеннях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РОБОТИ: «Автоматизована система "Шкільний електронний журнал"»</dc:title>
  <dc:creator>Ваня Щедровський</dc:creator>
  <cp:lastModifiedBy>Ivan Schedrovskiy</cp:lastModifiedBy>
  <cp:revision>93</cp:revision>
  <dcterms:created xsi:type="dcterms:W3CDTF">2021-11-26T19:00:19Z</dcterms:created>
  <dcterms:modified xsi:type="dcterms:W3CDTF">2026-01-26T22:35:14Z</dcterms:modified>
</cp:coreProperties>
</file>